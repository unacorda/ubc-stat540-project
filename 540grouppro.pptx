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embeddedFontLst>
    <p:embeddedFont>
      <p:font typeface="Maven Pro" panose="020B0604020202020204" charset="0"/>
      <p:regular r:id="rId21"/>
      <p:bold r:id="rId22"/>
    </p:embeddedFont>
    <p:embeddedFont>
      <p:font typeface="Nunito" panose="020B060402020202020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5127A46-4F83-4A4A-82A4-0C5771278747}">
  <a:tblStyle styleId="{75127A46-4F83-4A4A-82A4-0C577127874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5" d="100"/>
          <a:sy n="145" d="100"/>
        </p:scale>
        <p:origin x="62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80988127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8016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4f62fbfda3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4f62fbfda3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Study took place in yucatan mexico</a:t>
            </a:r>
            <a:endParaRPr/>
          </a:p>
        </p:txBody>
      </p:sp>
    </p:spTree>
    <p:extLst>
      <p:ext uri="{BB962C8B-B14F-4D97-AF65-F5344CB8AC3E}">
        <p14:creationId xmlns:p14="http://schemas.microsoft.com/office/powerpoint/2010/main" val="1221878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4f62fbfda3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4f62fbfda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a:solidFill>
                  <a:schemeClr val="dk2"/>
                </a:solidFill>
                <a:latin typeface="Nunito"/>
                <a:ea typeface="Nunito"/>
                <a:cs typeface="Nunito"/>
                <a:sym typeface="Nunito"/>
              </a:rPr>
              <a:t>Libraries produced from globin reduced RNA</a:t>
            </a:r>
            <a:endParaRPr sz="1300">
              <a:solidFill>
                <a:schemeClr val="dk2"/>
              </a:solidFill>
              <a:latin typeface="Nunito"/>
              <a:ea typeface="Nunito"/>
              <a:cs typeface="Nunito"/>
              <a:sym typeface="Nunito"/>
            </a:endParaRPr>
          </a:p>
          <a:p>
            <a:pPr marL="0" lvl="0" indent="0" algn="l" rtl="0">
              <a:lnSpc>
                <a:spcPct val="115000"/>
              </a:lnSpc>
              <a:spcBef>
                <a:spcPts val="1600"/>
              </a:spcBef>
              <a:spcAft>
                <a:spcPts val="0"/>
              </a:spcAft>
              <a:buNone/>
            </a:pPr>
            <a:r>
              <a:rPr lang="en" sz="1300">
                <a:solidFill>
                  <a:schemeClr val="dk2"/>
                </a:solidFill>
                <a:latin typeface="Nunito"/>
                <a:ea typeface="Nunito"/>
                <a:cs typeface="Nunito"/>
                <a:sym typeface="Nunito"/>
              </a:rPr>
              <a:t>Ran on illumina HiSeq2500 sequencer </a:t>
            </a:r>
            <a:endParaRPr sz="1300">
              <a:solidFill>
                <a:schemeClr val="dk2"/>
              </a:solidFill>
              <a:latin typeface="Nunito"/>
              <a:ea typeface="Nunito"/>
              <a:cs typeface="Nunito"/>
              <a:sym typeface="Nunito"/>
            </a:endParaRPr>
          </a:p>
          <a:p>
            <a:pPr marL="457200" lvl="0" indent="-311150" algn="l" rtl="0">
              <a:lnSpc>
                <a:spcPct val="115000"/>
              </a:lnSpc>
              <a:spcBef>
                <a:spcPts val="1600"/>
              </a:spcBef>
              <a:spcAft>
                <a:spcPts val="0"/>
              </a:spcAft>
              <a:buClr>
                <a:schemeClr val="dk2"/>
              </a:buClr>
              <a:buSzPts val="1300"/>
              <a:buFont typeface="Nunito"/>
              <a:buChar char="-"/>
            </a:pPr>
            <a:r>
              <a:rPr lang="en" sz="1300">
                <a:solidFill>
                  <a:schemeClr val="dk2"/>
                </a:solidFill>
                <a:latin typeface="Nunito"/>
                <a:ea typeface="Nunito"/>
                <a:cs typeface="Nunito"/>
                <a:sym typeface="Nunito"/>
              </a:rPr>
              <a:t>50-58 cycles</a:t>
            </a:r>
            <a:endParaRPr sz="1300">
              <a:solidFill>
                <a:schemeClr val="dk2"/>
              </a:solidFill>
              <a:latin typeface="Nunito"/>
              <a:ea typeface="Nunito"/>
              <a:cs typeface="Nunito"/>
              <a:sym typeface="Nunito"/>
            </a:endParaRPr>
          </a:p>
          <a:p>
            <a:pPr marL="0" lvl="0" indent="0" algn="l" rtl="0">
              <a:lnSpc>
                <a:spcPct val="115000"/>
              </a:lnSpc>
              <a:spcBef>
                <a:spcPts val="1600"/>
              </a:spcBef>
              <a:spcAft>
                <a:spcPts val="0"/>
              </a:spcAft>
              <a:buNone/>
            </a:pPr>
            <a:r>
              <a:rPr lang="en" sz="1300">
                <a:solidFill>
                  <a:schemeClr val="dk2"/>
                </a:solidFill>
                <a:latin typeface="Nunito"/>
                <a:ea typeface="Nunito"/>
                <a:cs typeface="Nunito"/>
                <a:sym typeface="Nunito"/>
              </a:rPr>
              <a:t>Single Read sequencing </a:t>
            </a:r>
            <a:endParaRPr sz="1300">
              <a:solidFill>
                <a:schemeClr val="dk2"/>
              </a:solidFill>
              <a:latin typeface="Nunito"/>
              <a:ea typeface="Nunito"/>
              <a:cs typeface="Nunito"/>
              <a:sym typeface="Nunito"/>
            </a:endParaRPr>
          </a:p>
          <a:p>
            <a:pPr marL="457200" lvl="0" indent="-311150" algn="l" rtl="0">
              <a:lnSpc>
                <a:spcPct val="115000"/>
              </a:lnSpc>
              <a:spcBef>
                <a:spcPts val="1600"/>
              </a:spcBef>
              <a:spcAft>
                <a:spcPts val="0"/>
              </a:spcAft>
              <a:buClr>
                <a:schemeClr val="dk2"/>
              </a:buClr>
              <a:buSzPts val="1300"/>
              <a:buFont typeface="Nunito"/>
              <a:buChar char="-"/>
            </a:pPr>
            <a:r>
              <a:rPr lang="en" sz="1300">
                <a:solidFill>
                  <a:schemeClr val="dk2"/>
                </a:solidFill>
                <a:latin typeface="Nunito"/>
                <a:ea typeface="Nunito"/>
                <a:cs typeface="Nunito"/>
                <a:sym typeface="Nunito"/>
              </a:rPr>
              <a:t>Truseq single read cluster kit v4</a:t>
            </a:r>
            <a:endParaRPr/>
          </a:p>
        </p:txBody>
      </p:sp>
    </p:spTree>
    <p:extLst>
      <p:ext uri="{BB962C8B-B14F-4D97-AF65-F5344CB8AC3E}">
        <p14:creationId xmlns:p14="http://schemas.microsoft.com/office/powerpoint/2010/main" val="3937705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4f62fbfda3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4f62fbfda3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9531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5549414773_0_2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5549414773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300">
              <a:solidFill>
                <a:schemeClr val="dk2"/>
              </a:solidFill>
              <a:latin typeface="Nunito"/>
              <a:ea typeface="Nunito"/>
              <a:cs typeface="Nunito"/>
              <a:sym typeface="Nunito"/>
            </a:endParaRPr>
          </a:p>
          <a:p>
            <a:pPr marL="0" lvl="0" indent="0" algn="l" rtl="0">
              <a:lnSpc>
                <a:spcPct val="115000"/>
              </a:lnSpc>
              <a:spcBef>
                <a:spcPts val="1600"/>
              </a:spcBef>
              <a:spcAft>
                <a:spcPts val="0"/>
              </a:spcAft>
              <a:buNone/>
            </a:pPr>
            <a:r>
              <a:rPr lang="en" sz="1300">
                <a:solidFill>
                  <a:schemeClr val="dk2"/>
                </a:solidFill>
                <a:latin typeface="Nunito"/>
                <a:ea typeface="Nunito"/>
                <a:cs typeface="Nunito"/>
                <a:sym typeface="Nunito"/>
              </a:rPr>
              <a:t>As the data was missing not as random and mostly within the controls  imputation introduced a lot of artificial variability related to infection type  </a:t>
            </a:r>
            <a:endParaRPr sz="1300">
              <a:solidFill>
                <a:schemeClr val="dk2"/>
              </a:solidFill>
              <a:latin typeface="Nunito"/>
              <a:ea typeface="Nunito"/>
              <a:cs typeface="Nunito"/>
              <a:sym typeface="Nunito"/>
            </a:endParaRPr>
          </a:p>
          <a:p>
            <a:pPr marL="0" lvl="0" indent="0" algn="l" rtl="0">
              <a:lnSpc>
                <a:spcPct val="115000"/>
              </a:lnSpc>
              <a:spcBef>
                <a:spcPts val="1600"/>
              </a:spcBef>
              <a:spcAft>
                <a:spcPts val="1600"/>
              </a:spcAft>
              <a:buNone/>
            </a:pPr>
            <a:r>
              <a:rPr lang="en" sz="1300">
                <a:solidFill>
                  <a:schemeClr val="dk2"/>
                </a:solidFill>
                <a:latin typeface="Nunito"/>
                <a:ea typeface="Nunito"/>
                <a:cs typeface="Nunito"/>
                <a:sym typeface="Nunito"/>
              </a:rPr>
              <a:t>“To filter for sample quality, a sample library was selected for further analysis if the fraction of unpaired reads examined compared to total FASTQ reads was &gt;75%, median coefficient of variation of coverage was &lt;1, and the library had &gt;1 million reads. To filter for lowly expressed genes, genes expressed at a level of counts per million &gt;1 in less than 3 samples were removed”</a:t>
            </a:r>
            <a:endParaRPr/>
          </a:p>
        </p:txBody>
      </p:sp>
    </p:spTree>
    <p:extLst>
      <p:ext uri="{BB962C8B-B14F-4D97-AF65-F5344CB8AC3E}">
        <p14:creationId xmlns:p14="http://schemas.microsoft.com/office/powerpoint/2010/main" val="3583437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5549414773_1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5549414773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PCA analysis of our RNA-seq data demonstrated</a:t>
            </a:r>
            <a:endParaRPr/>
          </a:p>
          <a:p>
            <a:pPr marL="0" lvl="0" indent="0" algn="l" rtl="0">
              <a:spcBef>
                <a:spcPts val="0"/>
              </a:spcBef>
              <a:spcAft>
                <a:spcPts val="0"/>
              </a:spcAft>
              <a:buNone/>
            </a:pPr>
            <a:r>
              <a:rPr lang="en"/>
              <a:t>overlap of profiles from HCs and individuals infected with each of the 4 infectious</a:t>
            </a:r>
            <a:endParaRPr/>
          </a:p>
          <a:p>
            <a:pPr marL="0" lvl="0" indent="0" algn="l" rtl="0">
              <a:spcBef>
                <a:spcPts val="0"/>
              </a:spcBef>
              <a:spcAft>
                <a:spcPts val="0"/>
              </a:spcAft>
              <a:buNone/>
            </a:pPr>
            <a:r>
              <a:rPr lang="en"/>
              <a:t>agents. This finding suggests global differences in host gene expression patterns in</a:t>
            </a:r>
            <a:endParaRPr/>
          </a:p>
          <a:p>
            <a:pPr marL="0" lvl="0" indent="0" algn="l" rtl="0">
              <a:spcBef>
                <a:spcPts val="0"/>
              </a:spcBef>
              <a:spcAft>
                <a:spcPts val="0"/>
              </a:spcAft>
              <a:buNone/>
            </a:pPr>
            <a:r>
              <a:rPr lang="en"/>
              <a:t>individuals with infectious diarrhea compared to HCs.</a:t>
            </a:r>
            <a:endParaRPr/>
          </a:p>
          <a:p>
            <a:pPr marL="0" lvl="0" indent="0" algn="l" rtl="0">
              <a:spcBef>
                <a:spcPts val="0"/>
              </a:spcBef>
              <a:spcAft>
                <a:spcPts val="0"/>
              </a:spcAft>
              <a:buNone/>
            </a:pPr>
            <a:endParaRPr/>
          </a:p>
          <a:p>
            <a:pPr marL="0" lvl="0" indent="0" algn="l" rtl="0">
              <a:spcBef>
                <a:spcPts val="0"/>
              </a:spcBef>
              <a:spcAft>
                <a:spcPts val="0"/>
              </a:spcAft>
              <a:buNone/>
            </a:pPr>
            <a:r>
              <a:rPr lang="en"/>
              <a:t>To determine whether gene expression could be linked to clinical parameters, we searched</a:t>
            </a:r>
            <a:endParaRPr/>
          </a:p>
          <a:p>
            <a:pPr marL="0" lvl="0" indent="0" algn="l" rtl="0">
              <a:spcBef>
                <a:spcPts val="0"/>
              </a:spcBef>
              <a:spcAft>
                <a:spcPts val="0"/>
              </a:spcAft>
              <a:buNone/>
            </a:pPr>
            <a:r>
              <a:rPr lang="en"/>
              <a:t>for clinical correlates of PC1, which explained 38%  (PC2 explained 10%) of the variability in the RNA-seq data</a:t>
            </a:r>
            <a:endParaRPr/>
          </a:p>
          <a:p>
            <a:pPr marL="0" lvl="0" indent="0" algn="l" rtl="0">
              <a:spcBef>
                <a:spcPts val="0"/>
              </a:spcBef>
              <a:spcAft>
                <a:spcPts val="0"/>
              </a:spcAft>
              <a:buNone/>
            </a:pPr>
            <a:endParaRPr/>
          </a:p>
          <a:p>
            <a:pPr marL="0" lvl="0" indent="0" algn="l" rtl="0">
              <a:spcBef>
                <a:spcPts val="0"/>
              </a:spcBef>
              <a:spcAft>
                <a:spcPts val="0"/>
              </a:spcAft>
              <a:buNone/>
            </a:pPr>
            <a:r>
              <a:rPr lang="en"/>
              <a:t>Correlation between neutrophil percentages and the first principal component of variation in</a:t>
            </a:r>
            <a:endParaRPr/>
          </a:p>
          <a:p>
            <a:pPr marL="0" lvl="0" indent="0" algn="l" rtl="0">
              <a:spcBef>
                <a:spcPts val="0"/>
              </a:spcBef>
              <a:spcAft>
                <a:spcPts val="0"/>
              </a:spcAft>
              <a:buNone/>
            </a:pPr>
            <a:r>
              <a:rPr lang="en"/>
              <a:t>the RNAseq data (Pearson's r = .40 vs the 0.69 in paper, pvalue same for both =2.2e-16)--have a strong correlation</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881430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5549414773_5_1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5549414773_5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of white blood cells were also found to be correlated to days past on set </a:t>
            </a:r>
            <a:endParaRPr/>
          </a:p>
          <a:p>
            <a:pPr marL="0" lvl="0" indent="0" algn="l" rtl="0">
              <a:spcBef>
                <a:spcPts val="0"/>
              </a:spcBef>
              <a:spcAft>
                <a:spcPts val="0"/>
              </a:spcAft>
              <a:buNone/>
            </a:pPr>
            <a:r>
              <a:rPr lang="en"/>
              <a:t>Neutrophiles tend to rise at the begin of the disease and expression lowers as time goes on. Lymphocytes have an opposite correlation while monocyte levels remain fairly constant and this is what we would expect knowing how these cell types function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8244260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5549414773_5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5549414773_5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DEG Comparing different infection type with the Healthy control.</a:t>
            </a:r>
            <a:endParaRPr/>
          </a:p>
          <a:p>
            <a:pPr marL="0" lvl="0" indent="0" algn="l" rtl="0">
              <a:spcBef>
                <a:spcPts val="0"/>
              </a:spcBef>
              <a:spcAft>
                <a:spcPts val="0"/>
              </a:spcAft>
              <a:buNone/>
            </a:pPr>
            <a:r>
              <a:rPr lang="en"/>
              <a:t>What is shown here is that the number and the type of DEG is different </a:t>
            </a:r>
            <a:endParaRPr/>
          </a:p>
        </p:txBody>
      </p:sp>
    </p:spTree>
    <p:extLst>
      <p:ext uri="{BB962C8B-B14F-4D97-AF65-F5344CB8AC3E}">
        <p14:creationId xmlns:p14="http://schemas.microsoft.com/office/powerpoint/2010/main" val="28312520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5549414773_1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5549414773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One of our reality checks was involved determining the number of total and unique differentially expressed genes.</a:t>
            </a:r>
            <a:br>
              <a:rPr lang="en"/>
            </a:br>
            <a:r>
              <a:rPr lang="en"/>
              <a:t>The fitted additive model included age, sex and infection group, as well as dpo and batch to control confounding. Venn diagrams become less digestible with 4 sets or more, this is an Upset plot. Numbers aren’t identical, but are in the ballpark. Discrepancies probably indicate that our models or filtering methods differed slightly.</a:t>
            </a:r>
            <a:endParaRPr/>
          </a:p>
        </p:txBody>
      </p:sp>
    </p:spTree>
    <p:extLst>
      <p:ext uri="{BB962C8B-B14F-4D97-AF65-F5344CB8AC3E}">
        <p14:creationId xmlns:p14="http://schemas.microsoft.com/office/powerpoint/2010/main" val="4110470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5549414773_1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5549414773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primary hypothesis was that patient sex could play a role in moderating response to diarrheal pathogens. The model fitted included infection group, sex, age and interaction terms for sex and infection group. A look at the p value distribution for is consistent with uniform.</a:t>
            </a:r>
            <a:endParaRPr/>
          </a:p>
        </p:txBody>
      </p:sp>
    </p:spTree>
    <p:extLst>
      <p:ext uri="{BB962C8B-B14F-4D97-AF65-F5344CB8AC3E}">
        <p14:creationId xmlns:p14="http://schemas.microsoft.com/office/powerpoint/2010/main" val="664756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5549414773_14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5549414773_1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After learning about the implications of multifunctionality, I was curious about whether our enriched biological process categories would hold.</a:t>
            </a:r>
            <a:endParaRPr/>
          </a:p>
        </p:txBody>
      </p:sp>
    </p:spTree>
    <p:extLst>
      <p:ext uri="{BB962C8B-B14F-4D97-AF65-F5344CB8AC3E}">
        <p14:creationId xmlns:p14="http://schemas.microsoft.com/office/powerpoint/2010/main" val="2286326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5549414773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5549414773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05047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4f6a9cba05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4f6a9cba0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63399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5549414773_5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5549414773_5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extLst>
      <p:ext uri="{BB962C8B-B14F-4D97-AF65-F5344CB8AC3E}">
        <p14:creationId xmlns:p14="http://schemas.microsoft.com/office/powerpoint/2010/main" val="29917640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5549414773_5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5549414773_5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Original category vs Reduced category.</a:t>
            </a:r>
            <a:endParaRPr/>
          </a:p>
          <a:p>
            <a:pPr marL="457200" lvl="0" indent="-298450" algn="l" rtl="0">
              <a:spcBef>
                <a:spcPts val="0"/>
              </a:spcBef>
              <a:spcAft>
                <a:spcPts val="0"/>
              </a:spcAft>
              <a:buSzPts val="1100"/>
              <a:buAutoNum type="arabicPeriod"/>
            </a:pPr>
            <a:r>
              <a:rPr lang="en"/>
              <a:t>Some genes expression vary among the group, </a:t>
            </a:r>
            <a:endParaRPr/>
          </a:p>
        </p:txBody>
      </p:sp>
    </p:spTree>
    <p:extLst>
      <p:ext uri="{BB962C8B-B14F-4D97-AF65-F5344CB8AC3E}">
        <p14:creationId xmlns:p14="http://schemas.microsoft.com/office/powerpoint/2010/main" val="9207286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5549414773_5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5549414773_5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In the case where the response variable is not continuous</a:t>
            </a:r>
            <a:r>
              <a:rPr lang="en-US" baseline="0" dirty="0" smtClean="0"/>
              <a:t>: we have logistic regression or Multinomial Regression.</a:t>
            </a:r>
            <a:endParaRPr dirty="0"/>
          </a:p>
        </p:txBody>
      </p:sp>
    </p:spTree>
    <p:extLst>
      <p:ext uri="{BB962C8B-B14F-4D97-AF65-F5344CB8AC3E}">
        <p14:creationId xmlns:p14="http://schemas.microsoft.com/office/powerpoint/2010/main" val="42497862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5549414773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5549414773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25016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5549414773_1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5549414773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3351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lstStyle>
            <a:lvl1pPr lvl="0" rtl="0">
              <a:lnSpc>
                <a:spcPct val="100000"/>
              </a:lnSpc>
              <a:spcBef>
                <a:spcPts val="0"/>
              </a:spcBef>
              <a:spcAft>
                <a:spcPts val="0"/>
              </a:spcAft>
              <a:buClr>
                <a:schemeClr val="lt1"/>
              </a:buClr>
              <a:buSzPts val="1600"/>
              <a:buNone/>
              <a:defRPr sz="1600">
                <a:solidFill>
                  <a:schemeClr val="lt1"/>
                </a:solidFill>
              </a:defRPr>
            </a:lvl1pPr>
            <a:lvl2pPr lvl="1" rtl="0">
              <a:lnSpc>
                <a:spcPct val="100000"/>
              </a:lnSpc>
              <a:spcBef>
                <a:spcPts val="0"/>
              </a:spcBef>
              <a:spcAft>
                <a:spcPts val="0"/>
              </a:spcAft>
              <a:buClr>
                <a:schemeClr val="lt1"/>
              </a:buClr>
              <a:buSzPts val="1600"/>
              <a:buNone/>
              <a:defRPr sz="1600">
                <a:solidFill>
                  <a:schemeClr val="lt1"/>
                </a:solidFill>
              </a:defRPr>
            </a:lvl2pPr>
            <a:lvl3pPr lvl="2" rtl="0">
              <a:lnSpc>
                <a:spcPct val="100000"/>
              </a:lnSpc>
              <a:spcBef>
                <a:spcPts val="0"/>
              </a:spcBef>
              <a:spcAft>
                <a:spcPts val="0"/>
              </a:spcAft>
              <a:buClr>
                <a:schemeClr val="lt1"/>
              </a:buClr>
              <a:buSzPts val="1600"/>
              <a:buNone/>
              <a:defRPr sz="1600">
                <a:solidFill>
                  <a:schemeClr val="lt1"/>
                </a:solidFill>
              </a:defRPr>
            </a:lvl3pPr>
            <a:lvl4pPr lvl="3" rtl="0">
              <a:lnSpc>
                <a:spcPct val="100000"/>
              </a:lnSpc>
              <a:spcBef>
                <a:spcPts val="0"/>
              </a:spcBef>
              <a:spcAft>
                <a:spcPts val="0"/>
              </a:spcAft>
              <a:buClr>
                <a:schemeClr val="lt1"/>
              </a:buClr>
              <a:buSzPts val="1600"/>
              <a:buNone/>
              <a:defRPr sz="1600">
                <a:solidFill>
                  <a:schemeClr val="lt1"/>
                </a:solidFill>
              </a:defRPr>
            </a:lvl4pPr>
            <a:lvl5pPr lvl="4" rtl="0">
              <a:lnSpc>
                <a:spcPct val="100000"/>
              </a:lnSpc>
              <a:spcBef>
                <a:spcPts val="0"/>
              </a:spcBef>
              <a:spcAft>
                <a:spcPts val="0"/>
              </a:spcAft>
              <a:buClr>
                <a:schemeClr val="lt1"/>
              </a:buClr>
              <a:buSzPts val="1600"/>
              <a:buNone/>
              <a:defRPr sz="1600">
                <a:solidFill>
                  <a:schemeClr val="lt1"/>
                </a:solidFill>
              </a:defRPr>
            </a:lvl5pPr>
            <a:lvl6pPr lvl="5" rtl="0">
              <a:lnSpc>
                <a:spcPct val="100000"/>
              </a:lnSpc>
              <a:spcBef>
                <a:spcPts val="0"/>
              </a:spcBef>
              <a:spcAft>
                <a:spcPts val="0"/>
              </a:spcAft>
              <a:buClr>
                <a:schemeClr val="lt1"/>
              </a:buClr>
              <a:buSzPts val="1600"/>
              <a:buNone/>
              <a:defRPr sz="1600">
                <a:solidFill>
                  <a:schemeClr val="lt1"/>
                </a:solidFill>
              </a:defRPr>
            </a:lvl6pPr>
            <a:lvl7pPr lvl="6" rtl="0">
              <a:lnSpc>
                <a:spcPct val="100000"/>
              </a:lnSpc>
              <a:spcBef>
                <a:spcPts val="0"/>
              </a:spcBef>
              <a:spcAft>
                <a:spcPts val="0"/>
              </a:spcAft>
              <a:buClr>
                <a:schemeClr val="lt1"/>
              </a:buClr>
              <a:buSzPts val="1600"/>
              <a:buNone/>
              <a:defRPr sz="1600">
                <a:solidFill>
                  <a:schemeClr val="lt1"/>
                </a:solidFill>
              </a:defRPr>
            </a:lvl7pPr>
            <a:lvl8pPr lvl="7" rtl="0">
              <a:lnSpc>
                <a:spcPct val="100000"/>
              </a:lnSpc>
              <a:spcBef>
                <a:spcPts val="0"/>
              </a:spcBef>
              <a:spcAft>
                <a:spcPts val="0"/>
              </a:spcAft>
              <a:buClr>
                <a:schemeClr val="lt1"/>
              </a:buClr>
              <a:buSzPts val="1600"/>
              <a:buNone/>
              <a:defRPr sz="1600">
                <a:solidFill>
                  <a:schemeClr val="lt1"/>
                </a:solidFill>
              </a:defRPr>
            </a:lvl8pPr>
            <a:lvl9pPr lvl="8"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lstStyle>
            <a:lvl1pPr marL="457200" lvl="0" indent="-228600" rtl="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lstStyle>
            <a:lvl1pPr lvl="0" algn="ctr" rtl="0">
              <a:spcBef>
                <a:spcPts val="0"/>
              </a:spcBef>
              <a:spcAft>
                <a:spcPts val="0"/>
              </a:spcAft>
              <a:buClr>
                <a:schemeClr val="lt1"/>
              </a:buClr>
              <a:buSzPts val="8000"/>
              <a:buNone/>
              <a:defRPr sz="8000">
                <a:solidFill>
                  <a:schemeClr val="lt1"/>
                </a:solidFill>
              </a:defRPr>
            </a:lvl1pPr>
            <a:lvl2pPr lvl="1" algn="ctr" rtl="0">
              <a:spcBef>
                <a:spcPts val="0"/>
              </a:spcBef>
              <a:spcAft>
                <a:spcPts val="0"/>
              </a:spcAft>
              <a:buClr>
                <a:schemeClr val="lt1"/>
              </a:buClr>
              <a:buSzPts val="8000"/>
              <a:buNone/>
              <a:defRPr sz="8000">
                <a:solidFill>
                  <a:schemeClr val="lt1"/>
                </a:solidFill>
              </a:defRPr>
            </a:lvl2pPr>
            <a:lvl3pPr lvl="2" algn="ctr" rtl="0">
              <a:spcBef>
                <a:spcPts val="0"/>
              </a:spcBef>
              <a:spcAft>
                <a:spcPts val="0"/>
              </a:spcAft>
              <a:buClr>
                <a:schemeClr val="lt1"/>
              </a:buClr>
              <a:buSzPts val="8000"/>
              <a:buNone/>
              <a:defRPr sz="8000">
                <a:solidFill>
                  <a:schemeClr val="lt1"/>
                </a:solidFill>
              </a:defRPr>
            </a:lvl3pPr>
            <a:lvl4pPr lvl="3" algn="ctr" rtl="0">
              <a:spcBef>
                <a:spcPts val="0"/>
              </a:spcBef>
              <a:spcAft>
                <a:spcPts val="0"/>
              </a:spcAft>
              <a:buClr>
                <a:schemeClr val="lt1"/>
              </a:buClr>
              <a:buSzPts val="8000"/>
              <a:buNone/>
              <a:defRPr sz="8000">
                <a:solidFill>
                  <a:schemeClr val="lt1"/>
                </a:solidFill>
              </a:defRPr>
            </a:lvl4pPr>
            <a:lvl5pPr lvl="4" algn="ctr" rtl="0">
              <a:spcBef>
                <a:spcPts val="0"/>
              </a:spcBef>
              <a:spcAft>
                <a:spcPts val="0"/>
              </a:spcAft>
              <a:buClr>
                <a:schemeClr val="lt1"/>
              </a:buClr>
              <a:buSzPts val="8000"/>
              <a:buNone/>
              <a:defRPr sz="8000">
                <a:solidFill>
                  <a:schemeClr val="lt1"/>
                </a:solidFill>
              </a:defRPr>
            </a:lvl5pPr>
            <a:lvl6pPr lvl="5" algn="ctr" rtl="0">
              <a:spcBef>
                <a:spcPts val="0"/>
              </a:spcBef>
              <a:spcAft>
                <a:spcPts val="0"/>
              </a:spcAft>
              <a:buClr>
                <a:schemeClr val="lt1"/>
              </a:buClr>
              <a:buSzPts val="8000"/>
              <a:buNone/>
              <a:defRPr sz="8000">
                <a:solidFill>
                  <a:schemeClr val="lt1"/>
                </a:solidFill>
              </a:defRPr>
            </a:lvl6pPr>
            <a:lvl7pPr lvl="6" algn="ctr" rtl="0">
              <a:spcBef>
                <a:spcPts val="0"/>
              </a:spcBef>
              <a:spcAft>
                <a:spcPts val="0"/>
              </a:spcAft>
              <a:buClr>
                <a:schemeClr val="lt1"/>
              </a:buClr>
              <a:buSzPts val="8000"/>
              <a:buNone/>
              <a:defRPr sz="8000">
                <a:solidFill>
                  <a:schemeClr val="lt1"/>
                </a:solidFill>
              </a:defRPr>
            </a:lvl7pPr>
            <a:lvl8pPr lvl="7" algn="ctr" rtl="0">
              <a:spcBef>
                <a:spcPts val="0"/>
              </a:spcBef>
              <a:spcAft>
                <a:spcPts val="0"/>
              </a:spcAft>
              <a:buClr>
                <a:schemeClr val="lt1"/>
              </a:buClr>
              <a:buSzPts val="8000"/>
              <a:buNone/>
              <a:defRPr sz="8000">
                <a:solidFill>
                  <a:schemeClr val="lt1"/>
                </a:solidFill>
              </a:defRPr>
            </a:lvl8pPr>
            <a:lvl9pPr lvl="8" algn="ctr" rtl="0">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lstStyle>
            <a:lvl1pPr marL="457200" lvl="0" indent="-311150" algn="ctr" rtl="0">
              <a:spcBef>
                <a:spcPts val="0"/>
              </a:spcBef>
              <a:spcAft>
                <a:spcPts val="0"/>
              </a:spcAft>
              <a:buClr>
                <a:schemeClr val="lt1"/>
              </a:buClr>
              <a:buSzPts val="1300"/>
              <a:buChar char="●"/>
              <a:defRPr>
                <a:solidFill>
                  <a:schemeClr val="lt1"/>
                </a:solidFill>
              </a:defRPr>
            </a:lvl1pPr>
            <a:lvl2pPr marL="914400" lvl="1" indent="-298450" algn="ctr" rtl="0">
              <a:spcBef>
                <a:spcPts val="1600"/>
              </a:spcBef>
              <a:spcAft>
                <a:spcPts val="0"/>
              </a:spcAft>
              <a:buClr>
                <a:schemeClr val="lt1"/>
              </a:buClr>
              <a:buSzPts val="1100"/>
              <a:buChar char="○"/>
              <a:defRPr>
                <a:solidFill>
                  <a:schemeClr val="lt1"/>
                </a:solidFill>
              </a:defRPr>
            </a:lvl2pPr>
            <a:lvl3pPr marL="1371600" lvl="2" indent="-298450" algn="ctr" rtl="0">
              <a:spcBef>
                <a:spcPts val="1600"/>
              </a:spcBef>
              <a:spcAft>
                <a:spcPts val="0"/>
              </a:spcAft>
              <a:buClr>
                <a:schemeClr val="lt1"/>
              </a:buClr>
              <a:buSzPts val="1100"/>
              <a:buChar char="■"/>
              <a:defRPr>
                <a:solidFill>
                  <a:schemeClr val="lt1"/>
                </a:solidFill>
              </a:defRPr>
            </a:lvl3pPr>
            <a:lvl4pPr marL="1828800" lvl="3" indent="-298450" algn="ctr" rtl="0">
              <a:spcBef>
                <a:spcPts val="1600"/>
              </a:spcBef>
              <a:spcAft>
                <a:spcPts val="0"/>
              </a:spcAft>
              <a:buClr>
                <a:schemeClr val="lt1"/>
              </a:buClr>
              <a:buSzPts val="1100"/>
              <a:buChar char="●"/>
              <a:defRPr>
                <a:solidFill>
                  <a:schemeClr val="lt1"/>
                </a:solidFill>
              </a:defRPr>
            </a:lvl4pPr>
            <a:lvl5pPr marL="2286000" lvl="4" indent="-298450" algn="ctr" rtl="0">
              <a:spcBef>
                <a:spcPts val="1600"/>
              </a:spcBef>
              <a:spcAft>
                <a:spcPts val="0"/>
              </a:spcAft>
              <a:buClr>
                <a:schemeClr val="lt1"/>
              </a:buClr>
              <a:buSzPts val="1100"/>
              <a:buChar char="○"/>
              <a:defRPr>
                <a:solidFill>
                  <a:schemeClr val="lt1"/>
                </a:solidFill>
              </a:defRPr>
            </a:lvl5pPr>
            <a:lvl6pPr marL="2743200" lvl="5" indent="-298450" algn="ctr" rtl="0">
              <a:spcBef>
                <a:spcPts val="1600"/>
              </a:spcBef>
              <a:spcAft>
                <a:spcPts val="0"/>
              </a:spcAft>
              <a:buClr>
                <a:schemeClr val="lt1"/>
              </a:buClr>
              <a:buSzPts val="1100"/>
              <a:buChar char="■"/>
              <a:defRPr>
                <a:solidFill>
                  <a:schemeClr val="lt1"/>
                </a:solidFill>
              </a:defRPr>
            </a:lvl6pPr>
            <a:lvl7pPr marL="3200400" lvl="6" indent="-298450" algn="ctr" rtl="0">
              <a:spcBef>
                <a:spcPts val="1600"/>
              </a:spcBef>
              <a:spcAft>
                <a:spcPts val="0"/>
              </a:spcAft>
              <a:buClr>
                <a:schemeClr val="lt1"/>
              </a:buClr>
              <a:buSzPts val="1100"/>
              <a:buChar char="●"/>
              <a:defRPr>
                <a:solidFill>
                  <a:schemeClr val="lt1"/>
                </a:solidFill>
              </a:defRPr>
            </a:lvl7pPr>
            <a:lvl8pPr marL="3657600" lvl="7" indent="-298450" algn="ctr" rtl="0">
              <a:spcBef>
                <a:spcPts val="1600"/>
              </a:spcBef>
              <a:spcAft>
                <a:spcPts val="0"/>
              </a:spcAft>
              <a:buClr>
                <a:schemeClr val="lt1"/>
              </a:buClr>
              <a:buSzPts val="1100"/>
              <a:buChar char="○"/>
              <a:defRPr>
                <a:solidFill>
                  <a:schemeClr val="lt1"/>
                </a:solidFill>
              </a:defRPr>
            </a:lvl8pPr>
            <a:lvl9pPr marL="4114800" lvl="8" indent="-298450" algn="ctr" rtl="0">
              <a:spcBef>
                <a:spcPts val="1600"/>
              </a:spcBef>
              <a:spcAft>
                <a:spcPts val="160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11150" rtl="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rtl="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rtl="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rtl="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rtl="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rtl="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rtl="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rtl="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rtl="0">
              <a:lnSpc>
                <a:spcPct val="115000"/>
              </a:lnSpc>
              <a:spcBef>
                <a:spcPts val="1600"/>
              </a:spcBef>
              <a:spcAft>
                <a:spcPts val="160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Autofit/>
          </a:bodyPr>
          <a:lstStyle>
            <a:lvl1pPr lvl="0" algn="r" rtl="0">
              <a:buNone/>
              <a:defRPr sz="900">
                <a:solidFill>
                  <a:schemeClr val="dk2"/>
                </a:solidFill>
                <a:latin typeface="Nunito"/>
                <a:ea typeface="Nunito"/>
                <a:cs typeface="Nunito"/>
                <a:sym typeface="Nunito"/>
              </a:defRPr>
            </a:lvl1pPr>
            <a:lvl2pPr lvl="1" algn="r" rtl="0">
              <a:buNone/>
              <a:defRPr sz="900">
                <a:solidFill>
                  <a:schemeClr val="dk2"/>
                </a:solidFill>
                <a:latin typeface="Nunito"/>
                <a:ea typeface="Nunito"/>
                <a:cs typeface="Nunito"/>
                <a:sym typeface="Nunito"/>
              </a:defRPr>
            </a:lvl2pPr>
            <a:lvl3pPr lvl="2" algn="r" rtl="0">
              <a:buNone/>
              <a:defRPr sz="900">
                <a:solidFill>
                  <a:schemeClr val="dk2"/>
                </a:solidFill>
                <a:latin typeface="Nunito"/>
                <a:ea typeface="Nunito"/>
                <a:cs typeface="Nunito"/>
                <a:sym typeface="Nunito"/>
              </a:defRPr>
            </a:lvl3pPr>
            <a:lvl4pPr lvl="3" algn="r" rtl="0">
              <a:buNone/>
              <a:defRPr sz="900">
                <a:solidFill>
                  <a:schemeClr val="dk2"/>
                </a:solidFill>
                <a:latin typeface="Nunito"/>
                <a:ea typeface="Nunito"/>
                <a:cs typeface="Nunito"/>
                <a:sym typeface="Nunito"/>
              </a:defRPr>
            </a:lvl4pPr>
            <a:lvl5pPr lvl="4" algn="r" rtl="0">
              <a:buNone/>
              <a:defRPr sz="900">
                <a:solidFill>
                  <a:schemeClr val="dk2"/>
                </a:solidFill>
                <a:latin typeface="Nunito"/>
                <a:ea typeface="Nunito"/>
                <a:cs typeface="Nunito"/>
                <a:sym typeface="Nunito"/>
              </a:defRPr>
            </a:lvl5pPr>
            <a:lvl6pPr lvl="5" algn="r" rtl="0">
              <a:buNone/>
              <a:defRPr sz="900">
                <a:solidFill>
                  <a:schemeClr val="dk2"/>
                </a:solidFill>
                <a:latin typeface="Nunito"/>
                <a:ea typeface="Nunito"/>
                <a:cs typeface="Nunito"/>
                <a:sym typeface="Nunito"/>
              </a:defRPr>
            </a:lvl6pPr>
            <a:lvl7pPr lvl="6" algn="r" rtl="0">
              <a:buNone/>
              <a:defRPr sz="900">
                <a:solidFill>
                  <a:schemeClr val="dk2"/>
                </a:solidFill>
                <a:latin typeface="Nunito"/>
                <a:ea typeface="Nunito"/>
                <a:cs typeface="Nunito"/>
                <a:sym typeface="Nunito"/>
              </a:defRPr>
            </a:lvl7pPr>
            <a:lvl8pPr lvl="7" algn="r" rtl="0">
              <a:buNone/>
              <a:defRPr sz="900">
                <a:solidFill>
                  <a:schemeClr val="dk2"/>
                </a:solidFill>
                <a:latin typeface="Nunito"/>
                <a:ea typeface="Nunito"/>
                <a:cs typeface="Nunito"/>
                <a:sym typeface="Nunito"/>
              </a:defRPr>
            </a:lvl8pPr>
            <a:lvl9pPr lvl="8" algn="r" rtl="0">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Role of Sex in Childhood Diarrheal Disease </a:t>
            </a:r>
            <a:endParaRPr/>
          </a:p>
        </p:txBody>
      </p:sp>
      <p:sp>
        <p:nvSpPr>
          <p:cNvPr id="278" name="Google Shape;278;p13"/>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The ATGC Team</a:t>
            </a:r>
            <a:r>
              <a:rPr lang="en"/>
              <a:t>: S. Breaux, Y. Chen, F. Tuz Jhohura, T. Severson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Purpose of study </a:t>
            </a:r>
            <a:endParaRPr/>
          </a:p>
        </p:txBody>
      </p:sp>
      <p:sp>
        <p:nvSpPr>
          <p:cNvPr id="284" name="Google Shape;284;p14"/>
          <p:cNvSpPr txBox="1">
            <a:spLocks noGrp="1"/>
          </p:cNvSpPr>
          <p:nvPr>
            <p:ph type="body" idx="1"/>
          </p:nvPr>
        </p:nvSpPr>
        <p:spPr>
          <a:xfrm>
            <a:off x="347150" y="1722475"/>
            <a:ext cx="3891600" cy="254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Paper Aims: </a:t>
            </a:r>
            <a:r>
              <a:rPr lang="en"/>
              <a:t>To determine biomarkers to predict the severity and causative organism</a:t>
            </a:r>
            <a:endParaRPr/>
          </a:p>
          <a:p>
            <a:pPr marL="457200" lvl="0" indent="-311150" algn="l" rtl="0">
              <a:spcBef>
                <a:spcPts val="1600"/>
              </a:spcBef>
              <a:spcAft>
                <a:spcPts val="0"/>
              </a:spcAft>
              <a:buSzPts val="1300"/>
              <a:buChar char="-"/>
            </a:pPr>
            <a:r>
              <a:rPr lang="en"/>
              <a:t>Diarrhea one of the leading causes of child death worldwide </a:t>
            </a:r>
            <a:endParaRPr/>
          </a:p>
          <a:p>
            <a:pPr marL="457200" lvl="0" indent="-311150" algn="l" rtl="0">
              <a:spcBef>
                <a:spcPts val="0"/>
              </a:spcBef>
              <a:spcAft>
                <a:spcPts val="0"/>
              </a:spcAft>
              <a:buSzPts val="1300"/>
              <a:buChar char="-"/>
            </a:pPr>
            <a:r>
              <a:rPr lang="en"/>
              <a:t>Diagnosis made by clinical observation and a battery of molecular tests</a:t>
            </a:r>
            <a:endParaRPr/>
          </a:p>
          <a:p>
            <a:pPr marL="0" lvl="0" indent="0" algn="l" rtl="0">
              <a:spcBef>
                <a:spcPts val="1600"/>
              </a:spcBef>
              <a:spcAft>
                <a:spcPts val="0"/>
              </a:spcAft>
              <a:buNone/>
            </a:pPr>
            <a:r>
              <a:rPr lang="en"/>
              <a:t>Hypothesis: “pathogens causing diarrheal diseases would elicit distinct patterns of gene expression in host peripheral blood that could be used to characterize immune responses associated with each pathogen and with disease severity”</a:t>
            </a:r>
            <a:endParaRPr/>
          </a:p>
          <a:p>
            <a:pPr marL="0" lvl="0" indent="0" algn="l" rtl="0">
              <a:spcBef>
                <a:spcPts val="1600"/>
              </a:spcBef>
              <a:spcAft>
                <a:spcPts val="1600"/>
              </a:spcAft>
              <a:buNone/>
            </a:pPr>
            <a:endParaRPr/>
          </a:p>
        </p:txBody>
      </p:sp>
      <p:pic>
        <p:nvPicPr>
          <p:cNvPr id="285" name="Google Shape;285;p14"/>
          <p:cNvPicPr preferRelativeResize="0"/>
          <p:nvPr/>
        </p:nvPicPr>
        <p:blipFill rotWithShape="1">
          <a:blip r:embed="rId3">
            <a:alphaModFix/>
          </a:blip>
          <a:srcRect r="1806"/>
          <a:stretch/>
        </p:blipFill>
        <p:spPr>
          <a:xfrm>
            <a:off x="4342825" y="0"/>
            <a:ext cx="4801175" cy="1501425"/>
          </a:xfrm>
          <a:prstGeom prst="rect">
            <a:avLst/>
          </a:prstGeom>
          <a:noFill/>
          <a:ln>
            <a:noFill/>
          </a:ln>
        </p:spPr>
      </p:pic>
      <p:sp>
        <p:nvSpPr>
          <p:cNvPr id="286" name="Google Shape;286;p14"/>
          <p:cNvSpPr txBox="1">
            <a:spLocks noGrp="1"/>
          </p:cNvSpPr>
          <p:nvPr>
            <p:ph type="body" idx="1"/>
          </p:nvPr>
        </p:nvSpPr>
        <p:spPr>
          <a:xfrm>
            <a:off x="4669350" y="1770800"/>
            <a:ext cx="3891600" cy="254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Our Aims: </a:t>
            </a:r>
            <a:r>
              <a:rPr lang="en"/>
              <a:t>To determine whether sex of patient influences response to pathogen.</a:t>
            </a:r>
            <a:endParaRPr/>
          </a:p>
          <a:p>
            <a:pPr marL="457200" lvl="0" indent="-311150" algn="l" rtl="0">
              <a:spcBef>
                <a:spcPts val="1600"/>
              </a:spcBef>
              <a:spcAft>
                <a:spcPts val="0"/>
              </a:spcAft>
              <a:buSzPts val="1300"/>
              <a:buChar char="-"/>
            </a:pPr>
            <a:r>
              <a:rPr lang="en"/>
              <a:t>Recreate several analyses from the original paper as a reality check. </a:t>
            </a:r>
            <a:endParaRPr/>
          </a:p>
          <a:p>
            <a:pPr marL="457200" lvl="0" indent="-311150" algn="l" rtl="0">
              <a:spcBef>
                <a:spcPts val="0"/>
              </a:spcBef>
              <a:spcAft>
                <a:spcPts val="0"/>
              </a:spcAft>
              <a:buSzPts val="1300"/>
              <a:buChar char="-"/>
            </a:pPr>
            <a:r>
              <a:rPr lang="en"/>
              <a:t>Build a classifier to predict pathogen type based on differentially expressed genes.</a:t>
            </a:r>
            <a:endParaRPr/>
          </a:p>
          <a:p>
            <a:pPr marL="0" lvl="0" indent="0" algn="l" rtl="0">
              <a:spcBef>
                <a:spcPts val="1600"/>
              </a:spcBef>
              <a:spcAft>
                <a:spcPts val="0"/>
              </a:spcAft>
              <a:buNone/>
            </a:pPr>
            <a:endParaRPr b="1"/>
          </a:p>
          <a:p>
            <a:pPr marL="0" lvl="0" indent="0" algn="l" rtl="0">
              <a:spcBef>
                <a:spcPts val="1600"/>
              </a:spcBef>
              <a:spcAft>
                <a:spcPts val="16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Study Design </a:t>
            </a:r>
            <a:endParaRPr/>
          </a:p>
        </p:txBody>
      </p:sp>
      <p:sp>
        <p:nvSpPr>
          <p:cNvPr id="292" name="Google Shape;292;p15"/>
          <p:cNvSpPr txBox="1">
            <a:spLocks noGrp="1"/>
          </p:cNvSpPr>
          <p:nvPr>
            <p:ph type="body" idx="1"/>
          </p:nvPr>
        </p:nvSpPr>
        <p:spPr>
          <a:xfrm>
            <a:off x="493850" y="1445250"/>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2010-2014 in Yucatan, Mexico at General O’Horan Hospital</a:t>
            </a:r>
            <a:endParaRPr/>
          </a:p>
          <a:p>
            <a:pPr marL="0" lvl="0" indent="0" algn="l" rtl="0">
              <a:spcBef>
                <a:spcPts val="1600"/>
              </a:spcBef>
              <a:spcAft>
                <a:spcPts val="0"/>
              </a:spcAft>
              <a:buNone/>
            </a:pPr>
            <a:r>
              <a:rPr lang="en"/>
              <a:t>Children less than 10 years old</a:t>
            </a:r>
            <a:endParaRPr/>
          </a:p>
          <a:p>
            <a:pPr marL="0" lvl="0" indent="0" algn="l" rtl="0">
              <a:lnSpc>
                <a:spcPct val="100000"/>
              </a:lnSpc>
              <a:spcBef>
                <a:spcPts val="1600"/>
              </a:spcBef>
              <a:spcAft>
                <a:spcPts val="0"/>
              </a:spcAft>
              <a:buNone/>
            </a:pPr>
            <a:endParaRPr/>
          </a:p>
          <a:p>
            <a:pPr marL="0" lvl="0" indent="0" algn="l" rtl="0">
              <a:lnSpc>
                <a:spcPct val="100000"/>
              </a:lnSpc>
              <a:spcBef>
                <a:spcPts val="1600"/>
              </a:spcBef>
              <a:spcAft>
                <a:spcPts val="0"/>
              </a:spcAft>
              <a:buNone/>
            </a:pPr>
            <a:endParaRPr/>
          </a:p>
          <a:p>
            <a:pPr marL="0" lvl="0" indent="0" algn="l" rtl="0">
              <a:lnSpc>
                <a:spcPct val="100000"/>
              </a:lnSpc>
              <a:spcBef>
                <a:spcPts val="1600"/>
              </a:spcBef>
              <a:spcAft>
                <a:spcPts val="0"/>
              </a:spcAft>
              <a:buNone/>
            </a:pPr>
            <a:endParaRPr/>
          </a:p>
          <a:p>
            <a:pPr marL="0" lvl="0" indent="0" algn="l" rtl="0">
              <a:lnSpc>
                <a:spcPct val="100000"/>
              </a:lnSpc>
              <a:spcBef>
                <a:spcPts val="1600"/>
              </a:spcBef>
              <a:spcAft>
                <a:spcPts val="0"/>
              </a:spcAft>
              <a:buNone/>
            </a:pPr>
            <a:endParaRPr sz="2400"/>
          </a:p>
          <a:p>
            <a:pPr marL="0" lvl="0" indent="0" algn="l" rtl="0">
              <a:lnSpc>
                <a:spcPct val="100000"/>
              </a:lnSpc>
              <a:spcBef>
                <a:spcPts val="1600"/>
              </a:spcBef>
              <a:spcAft>
                <a:spcPts val="0"/>
              </a:spcAft>
              <a:buNone/>
            </a:pPr>
            <a:endParaRPr sz="2400"/>
          </a:p>
          <a:p>
            <a:pPr marL="0" lvl="0" indent="0" algn="l" rtl="0">
              <a:spcBef>
                <a:spcPts val="1600"/>
              </a:spcBef>
              <a:spcAft>
                <a:spcPts val="0"/>
              </a:spcAft>
              <a:buNone/>
            </a:pPr>
            <a:r>
              <a:rPr lang="en" sz="2400"/>
              <a:t>However, they did not include their final processed data set</a:t>
            </a:r>
            <a:endParaRPr sz="2400"/>
          </a:p>
          <a:p>
            <a:pPr marL="0" lvl="0" indent="0" algn="l" rtl="0">
              <a:spcBef>
                <a:spcPts val="1600"/>
              </a:spcBef>
              <a:spcAft>
                <a:spcPts val="1600"/>
              </a:spcAft>
              <a:buNone/>
            </a:pPr>
            <a:endParaRPr/>
          </a:p>
        </p:txBody>
      </p:sp>
      <p:sp>
        <p:nvSpPr>
          <p:cNvPr id="293" name="Google Shape;293;p15"/>
          <p:cNvSpPr txBox="1"/>
          <p:nvPr/>
        </p:nvSpPr>
        <p:spPr>
          <a:xfrm>
            <a:off x="6913425" y="2376925"/>
            <a:ext cx="4402200" cy="260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endParaRPr sz="1300">
              <a:solidFill>
                <a:schemeClr val="dk2"/>
              </a:solidFill>
              <a:latin typeface="Nunito"/>
              <a:ea typeface="Nunito"/>
              <a:cs typeface="Nunito"/>
              <a:sym typeface="Nunito"/>
            </a:endParaRPr>
          </a:p>
        </p:txBody>
      </p:sp>
      <p:graphicFrame>
        <p:nvGraphicFramePr>
          <p:cNvPr id="294" name="Google Shape;294;p15"/>
          <p:cNvGraphicFramePr/>
          <p:nvPr/>
        </p:nvGraphicFramePr>
        <p:xfrm>
          <a:off x="1088525" y="2299675"/>
          <a:ext cx="6966925" cy="2047253"/>
        </p:xfrm>
        <a:graphic>
          <a:graphicData uri="http://schemas.openxmlformats.org/drawingml/2006/table">
            <a:tbl>
              <a:tblPr>
                <a:noFill/>
                <a:tableStyleId>{75127A46-4F83-4A4A-82A4-0C5771278747}</a:tableStyleId>
              </a:tblPr>
              <a:tblGrid>
                <a:gridCol w="3541750"/>
                <a:gridCol w="3425175"/>
              </a:tblGrid>
              <a:tr h="497375">
                <a:tc>
                  <a:txBody>
                    <a:bodyPr/>
                    <a:lstStyle/>
                    <a:p>
                      <a:pPr marL="0" lvl="0" indent="0" algn="l" rtl="0">
                        <a:lnSpc>
                          <a:spcPct val="115000"/>
                        </a:lnSpc>
                        <a:spcBef>
                          <a:spcPts val="0"/>
                        </a:spcBef>
                        <a:spcAft>
                          <a:spcPts val="1600"/>
                        </a:spcAft>
                        <a:buClr>
                          <a:schemeClr val="dk1"/>
                        </a:buClr>
                        <a:buSzPts val="1100"/>
                        <a:buFont typeface="Arial"/>
                        <a:buNone/>
                      </a:pPr>
                      <a:r>
                        <a:rPr lang="en" sz="1300" b="1">
                          <a:solidFill>
                            <a:schemeClr val="dk2"/>
                          </a:solidFill>
                          <a:latin typeface="Nunito"/>
                          <a:ea typeface="Nunito"/>
                          <a:cs typeface="Nunito"/>
                          <a:sym typeface="Nunito"/>
                        </a:rPr>
                        <a:t>Case (N=193)</a:t>
                      </a:r>
                      <a:endParaRPr b="1"/>
                    </a:p>
                  </a:txBody>
                  <a:tcPr marL="91425" marR="91425" marT="91425" marB="91425">
                    <a:solidFill>
                      <a:schemeClr val="lt2"/>
                    </a:solidFill>
                  </a:tcPr>
                </a:tc>
                <a:tc>
                  <a:txBody>
                    <a:bodyPr/>
                    <a:lstStyle/>
                    <a:p>
                      <a:pPr marL="0" lvl="0" indent="0" algn="l" rtl="0">
                        <a:lnSpc>
                          <a:spcPct val="115000"/>
                        </a:lnSpc>
                        <a:spcBef>
                          <a:spcPts val="0"/>
                        </a:spcBef>
                        <a:spcAft>
                          <a:spcPts val="1600"/>
                        </a:spcAft>
                        <a:buNone/>
                      </a:pPr>
                      <a:r>
                        <a:rPr lang="en" sz="1300" b="1">
                          <a:solidFill>
                            <a:schemeClr val="dk2"/>
                          </a:solidFill>
                          <a:latin typeface="Nunito"/>
                          <a:ea typeface="Nunito"/>
                          <a:cs typeface="Nunito"/>
                          <a:sym typeface="Nunito"/>
                        </a:rPr>
                        <a:t>Control (N= 29) </a:t>
                      </a:r>
                      <a:endParaRPr b="1"/>
                    </a:p>
                  </a:txBody>
                  <a:tcPr marL="91425" marR="91425" marT="91425" marB="91425">
                    <a:solidFill>
                      <a:schemeClr val="lt2"/>
                    </a:solidFill>
                  </a:tcPr>
                </a:tc>
              </a:tr>
              <a:tr h="1427050">
                <a:tc>
                  <a:txBody>
                    <a:bodyPr/>
                    <a:lstStyle/>
                    <a:p>
                      <a:pPr marL="457200" lvl="0" indent="-311150" algn="l" rtl="0">
                        <a:lnSpc>
                          <a:spcPct val="115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Acute community acquired diarrhea </a:t>
                      </a:r>
                      <a:endParaRPr sz="1300">
                        <a:solidFill>
                          <a:schemeClr val="dk2"/>
                        </a:solidFill>
                        <a:latin typeface="Nunito"/>
                        <a:ea typeface="Nunito"/>
                        <a:cs typeface="Nunito"/>
                        <a:sym typeface="Nunito"/>
                      </a:endParaRPr>
                    </a:p>
                    <a:p>
                      <a:pPr marL="457200" lvl="0" indent="-311150" algn="l" rtl="0">
                        <a:lnSpc>
                          <a:spcPct val="115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Had it for &lt;8 days</a:t>
                      </a:r>
                      <a:endParaRPr sz="1300">
                        <a:solidFill>
                          <a:schemeClr val="dk2"/>
                        </a:solidFill>
                        <a:latin typeface="Nunito"/>
                        <a:ea typeface="Nunito"/>
                        <a:cs typeface="Nunito"/>
                        <a:sym typeface="Nunito"/>
                      </a:endParaRPr>
                    </a:p>
                    <a:p>
                      <a:pPr marL="457200" lvl="0" indent="-311150" algn="l" rtl="0">
                        <a:lnSpc>
                          <a:spcPct val="115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No underlying GI or immune issues</a:t>
                      </a:r>
                      <a:endParaRPr sz="1300">
                        <a:solidFill>
                          <a:schemeClr val="dk2"/>
                        </a:solidFill>
                        <a:latin typeface="Nunito"/>
                        <a:ea typeface="Nunito"/>
                        <a:cs typeface="Nunito"/>
                        <a:sym typeface="Nunito"/>
                      </a:endParaRPr>
                    </a:p>
                    <a:p>
                      <a:pPr marL="457200" lvl="0" indent="-311150" algn="l" rtl="0">
                        <a:lnSpc>
                          <a:spcPct val="115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No recent GI surgery </a:t>
                      </a:r>
                      <a:endParaRPr sz="1300">
                        <a:solidFill>
                          <a:schemeClr val="dk2"/>
                        </a:solidFill>
                        <a:latin typeface="Nunito"/>
                        <a:ea typeface="Nunito"/>
                        <a:cs typeface="Nunito"/>
                        <a:sym typeface="Nunito"/>
                      </a:endParaRPr>
                    </a:p>
                    <a:p>
                      <a:pPr marL="457200" lvl="0" indent="-311150" algn="l" rtl="0">
                        <a:lnSpc>
                          <a:spcPct val="115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Positive culture with only 1 pathogen  </a:t>
                      </a:r>
                      <a:endParaRPr sz="1300">
                        <a:solidFill>
                          <a:schemeClr val="dk2"/>
                        </a:solidFill>
                        <a:latin typeface="Nunito"/>
                        <a:ea typeface="Nunito"/>
                        <a:cs typeface="Nunito"/>
                        <a:sym typeface="Nunito"/>
                      </a:endParaRPr>
                    </a:p>
                    <a:p>
                      <a:pPr marL="914400" lvl="1" indent="-311150" algn="l" rtl="0">
                        <a:lnSpc>
                          <a:spcPct val="115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(not Campylobacter or Vibrio)</a:t>
                      </a:r>
                      <a:endParaRPr/>
                    </a:p>
                  </a:txBody>
                  <a:tcPr marL="91425" marR="91425" marT="91425" marB="91425"/>
                </a:tc>
                <a:tc>
                  <a:txBody>
                    <a:bodyPr/>
                    <a:lstStyle/>
                    <a:p>
                      <a:pPr marL="457200" lvl="0" indent="-311150" algn="l" rtl="0">
                        <a:lnSpc>
                          <a:spcPct val="115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Age matched</a:t>
                      </a:r>
                      <a:endParaRPr sz="1300">
                        <a:solidFill>
                          <a:schemeClr val="dk2"/>
                        </a:solidFill>
                        <a:latin typeface="Nunito"/>
                        <a:ea typeface="Nunito"/>
                        <a:cs typeface="Nunito"/>
                        <a:sym typeface="Nunito"/>
                      </a:endParaRPr>
                    </a:p>
                    <a:p>
                      <a:pPr marL="457200" lvl="0" indent="-311150" algn="l" rtl="0">
                        <a:lnSpc>
                          <a:spcPct val="115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In for immunization or simple fractures </a:t>
                      </a:r>
                      <a:endParaRPr sz="1300">
                        <a:solidFill>
                          <a:schemeClr val="dk2"/>
                        </a:solidFill>
                        <a:latin typeface="Nunito"/>
                        <a:ea typeface="Nunito"/>
                        <a:cs typeface="Nunito"/>
                        <a:sym typeface="Nunito"/>
                      </a:endParaRPr>
                    </a:p>
                    <a:p>
                      <a:pPr marL="457200" lvl="0" indent="-311150" algn="l" rtl="0">
                        <a:lnSpc>
                          <a:spcPct val="115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Negative for pathogens</a:t>
                      </a:r>
                      <a:endParaRPr/>
                    </a:p>
                  </a:txBody>
                  <a:tcPr marL="91425" marR="91425" marT="91425" marB="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1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Key Findings </a:t>
            </a:r>
            <a:endParaRPr/>
          </a:p>
        </p:txBody>
      </p:sp>
      <p:sp>
        <p:nvSpPr>
          <p:cNvPr id="300" name="Google Shape;300;p16"/>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 age-associated differences in expression</a:t>
            </a:r>
            <a:endParaRPr/>
          </a:p>
          <a:p>
            <a:pPr marL="0" lvl="0" indent="0" algn="l" rtl="0">
              <a:spcBef>
                <a:spcPts val="1600"/>
              </a:spcBef>
              <a:spcAft>
                <a:spcPts val="0"/>
              </a:spcAft>
              <a:buNone/>
            </a:pPr>
            <a:r>
              <a:rPr lang="en"/>
              <a:t>no relationship between disease severity and complement or interferon signaling genes</a:t>
            </a:r>
            <a:endParaRPr/>
          </a:p>
          <a:p>
            <a:pPr marL="0" lvl="0" indent="0" algn="l" rtl="0">
              <a:spcBef>
                <a:spcPts val="1600"/>
              </a:spcBef>
              <a:spcAft>
                <a:spcPts val="0"/>
              </a:spcAft>
              <a:buNone/>
            </a:pPr>
            <a:r>
              <a:rPr lang="en"/>
              <a:t>relationship between leukocytes and days past on set </a:t>
            </a:r>
            <a:endParaRPr/>
          </a:p>
          <a:p>
            <a:pPr marL="0" lvl="0" indent="0" algn="l" rtl="0">
              <a:spcBef>
                <a:spcPts val="1600"/>
              </a:spcBef>
              <a:spcAft>
                <a:spcPts val="0"/>
              </a:spcAft>
              <a:buNone/>
            </a:pPr>
            <a:r>
              <a:rPr lang="en"/>
              <a:t>relationship between gene expression and cell type proportions varies according to pathogen and gene function</a:t>
            </a:r>
            <a:endParaRPr/>
          </a:p>
          <a:p>
            <a:pPr marL="0" lvl="0" indent="0" algn="l" rtl="0">
              <a:spcBef>
                <a:spcPts val="160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Processing </a:t>
            </a:r>
            <a:endParaRPr/>
          </a:p>
        </p:txBody>
      </p:sp>
      <p:sp>
        <p:nvSpPr>
          <p:cNvPr id="306" name="Google Shape;306;p17"/>
          <p:cNvSpPr txBox="1">
            <a:spLocks noGrp="1"/>
          </p:cNvSpPr>
          <p:nvPr>
            <p:ph type="body" idx="1"/>
          </p:nvPr>
        </p:nvSpPr>
        <p:spPr>
          <a:xfrm>
            <a:off x="634875" y="1990050"/>
            <a:ext cx="7699500" cy="25416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Count data from samples uploaded to GEO at two different times - intermixed with count data from samples lacking metadata. </a:t>
            </a:r>
            <a:endParaRPr/>
          </a:p>
          <a:p>
            <a:pPr marL="457200" lvl="0" indent="-311150" algn="l" rtl="0">
              <a:spcBef>
                <a:spcPts val="0"/>
              </a:spcBef>
              <a:spcAft>
                <a:spcPts val="0"/>
              </a:spcAft>
              <a:buSzPts val="1300"/>
              <a:buChar char="-"/>
            </a:pPr>
            <a:r>
              <a:rPr lang="en"/>
              <a:t>Data contained a lot of NA values </a:t>
            </a:r>
            <a:endParaRPr/>
          </a:p>
          <a:p>
            <a:pPr marL="914400" lvl="1" indent="-298450" algn="l" rtl="0">
              <a:spcBef>
                <a:spcPts val="0"/>
              </a:spcBef>
              <a:spcAft>
                <a:spcPts val="0"/>
              </a:spcAft>
              <a:buSzPts val="1100"/>
              <a:buChar char="-"/>
            </a:pPr>
            <a:r>
              <a:rPr lang="en"/>
              <a:t>Tested imputation and removal of NA values </a:t>
            </a:r>
            <a:endParaRPr/>
          </a:p>
          <a:p>
            <a:pPr marL="914400" lvl="1" indent="-298450" algn="l" rtl="0">
              <a:spcBef>
                <a:spcPts val="0"/>
              </a:spcBef>
              <a:spcAft>
                <a:spcPts val="0"/>
              </a:spcAft>
              <a:buSzPts val="1100"/>
              <a:buChar char="-"/>
            </a:pPr>
            <a:r>
              <a:rPr lang="en"/>
              <a:t>NA removed more closely matched what we expected</a:t>
            </a:r>
            <a:endParaRPr/>
          </a:p>
          <a:p>
            <a:pPr marL="457200" lvl="0" indent="-311150" algn="l" rtl="0">
              <a:spcBef>
                <a:spcPts val="0"/>
              </a:spcBef>
              <a:spcAft>
                <a:spcPts val="0"/>
              </a:spcAft>
              <a:buSzPts val="1300"/>
              <a:buChar char="-"/>
            </a:pPr>
            <a:r>
              <a:rPr lang="en"/>
              <a:t>We converted to RPKM for initial analyses </a:t>
            </a:r>
            <a:endParaRPr/>
          </a:p>
          <a:p>
            <a:pPr marL="457200" lvl="0" indent="-311150" algn="l" rtl="0">
              <a:spcBef>
                <a:spcPts val="0"/>
              </a:spcBef>
              <a:spcAft>
                <a:spcPts val="0"/>
              </a:spcAft>
              <a:buSzPts val="1300"/>
              <a:buChar char="-"/>
            </a:pPr>
            <a:r>
              <a:rPr lang="en"/>
              <a:t>Gene enrichment analyses and classifier development</a:t>
            </a:r>
            <a:endParaRPr/>
          </a:p>
          <a:p>
            <a:pPr marL="914400" lvl="1" indent="-298450" algn="l" rtl="0">
              <a:spcBef>
                <a:spcPts val="0"/>
              </a:spcBef>
              <a:spcAft>
                <a:spcPts val="0"/>
              </a:spcAft>
              <a:buSzPts val="1100"/>
              <a:buChar char="-"/>
            </a:pPr>
            <a:r>
              <a:rPr lang="en"/>
              <a:t>Counts filtered and normalized using edgeR (cpm &gt; 1 in 3 or more samples)</a:t>
            </a:r>
            <a:endParaRPr/>
          </a:p>
          <a:p>
            <a:pPr marL="914400" lvl="1" indent="-298450" algn="l" rtl="0">
              <a:spcBef>
                <a:spcPts val="0"/>
              </a:spcBef>
              <a:spcAft>
                <a:spcPts val="0"/>
              </a:spcAft>
              <a:buSzPts val="1100"/>
              <a:buChar char="-"/>
            </a:pPr>
            <a:r>
              <a:rPr lang="en"/>
              <a:t>Limma-voom and eBayes</a:t>
            </a:r>
            <a:endParaRPr/>
          </a:p>
          <a:p>
            <a:pPr marL="914400" lvl="1" indent="-298450" algn="l" rtl="0">
              <a:spcBef>
                <a:spcPts val="0"/>
              </a:spcBef>
              <a:spcAft>
                <a:spcPts val="0"/>
              </a:spcAft>
              <a:buSzPts val="1100"/>
              <a:buChar char="-"/>
            </a:pPr>
            <a:r>
              <a:rPr lang="en"/>
              <a:t>Approach matched method described by authors</a:t>
            </a:r>
            <a:endParaRPr/>
          </a:p>
          <a:p>
            <a:pPr marL="457200" marR="0" lvl="0" indent="0" algn="l" rtl="0">
              <a:lnSpc>
                <a:spcPct val="115000"/>
              </a:lnSpc>
              <a:spcBef>
                <a:spcPts val="1600"/>
              </a:spcBef>
              <a:spcAft>
                <a:spcPts val="0"/>
              </a:spcAft>
              <a:buNone/>
            </a:pPr>
            <a:endParaRPr/>
          </a:p>
          <a:p>
            <a:pPr marL="914400" lvl="0" indent="0" algn="l" rtl="0">
              <a:spcBef>
                <a:spcPts val="1600"/>
              </a:spcBef>
              <a:spcAft>
                <a:spcPts val="16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PCA </a:t>
            </a:r>
            <a:endParaRPr/>
          </a:p>
        </p:txBody>
      </p:sp>
      <p:pic>
        <p:nvPicPr>
          <p:cNvPr id="312" name="Google Shape;312;p18"/>
          <p:cNvPicPr preferRelativeResize="0"/>
          <p:nvPr/>
        </p:nvPicPr>
        <p:blipFill>
          <a:blip r:embed="rId3">
            <a:alphaModFix/>
          </a:blip>
          <a:stretch>
            <a:fillRect/>
          </a:stretch>
        </p:blipFill>
        <p:spPr>
          <a:xfrm>
            <a:off x="2275475" y="598574"/>
            <a:ext cx="3012799" cy="2332501"/>
          </a:xfrm>
          <a:prstGeom prst="rect">
            <a:avLst/>
          </a:prstGeom>
          <a:noFill/>
          <a:ln>
            <a:noFill/>
          </a:ln>
        </p:spPr>
      </p:pic>
      <p:pic>
        <p:nvPicPr>
          <p:cNvPr id="313" name="Google Shape;313;p18"/>
          <p:cNvPicPr preferRelativeResize="0"/>
          <p:nvPr/>
        </p:nvPicPr>
        <p:blipFill rotWithShape="1">
          <a:blip r:embed="rId4">
            <a:alphaModFix/>
          </a:blip>
          <a:srcRect b="58942"/>
          <a:stretch/>
        </p:blipFill>
        <p:spPr>
          <a:xfrm>
            <a:off x="-63950" y="3031675"/>
            <a:ext cx="9144000" cy="2111825"/>
          </a:xfrm>
          <a:prstGeom prst="rect">
            <a:avLst/>
          </a:prstGeom>
          <a:noFill/>
          <a:ln>
            <a:noFill/>
          </a:ln>
        </p:spPr>
      </p:pic>
      <p:pic>
        <p:nvPicPr>
          <p:cNvPr id="314" name="Google Shape;314;p18"/>
          <p:cNvPicPr preferRelativeResize="0"/>
          <p:nvPr/>
        </p:nvPicPr>
        <p:blipFill>
          <a:blip r:embed="rId5">
            <a:alphaModFix/>
          </a:blip>
          <a:stretch>
            <a:fillRect/>
          </a:stretch>
        </p:blipFill>
        <p:spPr>
          <a:xfrm>
            <a:off x="2161900" y="515179"/>
            <a:ext cx="3499000" cy="2499296"/>
          </a:xfrm>
          <a:prstGeom prst="rect">
            <a:avLst/>
          </a:prstGeom>
          <a:noFill/>
          <a:ln>
            <a:noFill/>
          </a:ln>
        </p:spPr>
      </p:pic>
      <p:pic>
        <p:nvPicPr>
          <p:cNvPr id="315" name="Google Shape;315;p18"/>
          <p:cNvPicPr preferRelativeResize="0"/>
          <p:nvPr/>
        </p:nvPicPr>
        <p:blipFill>
          <a:blip r:embed="rId6">
            <a:alphaModFix/>
          </a:blip>
          <a:stretch>
            <a:fillRect/>
          </a:stretch>
        </p:blipFill>
        <p:spPr>
          <a:xfrm>
            <a:off x="5660900" y="515151"/>
            <a:ext cx="3499000" cy="24993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1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PCA Analysis</a:t>
            </a:r>
            <a:endParaRPr/>
          </a:p>
        </p:txBody>
      </p:sp>
      <p:sp>
        <p:nvSpPr>
          <p:cNvPr id="321" name="Google Shape;321;p19"/>
          <p:cNvSpPr txBox="1">
            <a:spLocks noGrp="1"/>
          </p:cNvSpPr>
          <p:nvPr>
            <p:ph type="body" idx="1"/>
          </p:nvPr>
        </p:nvSpPr>
        <p:spPr>
          <a:xfrm>
            <a:off x="1303800" y="1096425"/>
            <a:ext cx="7030500" cy="4545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endParaRPr/>
          </a:p>
        </p:txBody>
      </p:sp>
      <p:pic>
        <p:nvPicPr>
          <p:cNvPr id="322" name="Google Shape;322;p19"/>
          <p:cNvPicPr preferRelativeResize="0"/>
          <p:nvPr/>
        </p:nvPicPr>
        <p:blipFill rotWithShape="1">
          <a:blip r:embed="rId3">
            <a:alphaModFix/>
          </a:blip>
          <a:srcRect t="45592" b="15866"/>
          <a:stretch/>
        </p:blipFill>
        <p:spPr>
          <a:xfrm>
            <a:off x="0" y="3161250"/>
            <a:ext cx="9144000" cy="1982250"/>
          </a:xfrm>
          <a:prstGeom prst="rect">
            <a:avLst/>
          </a:prstGeom>
          <a:noFill/>
          <a:ln>
            <a:noFill/>
          </a:ln>
        </p:spPr>
      </p:pic>
      <p:pic>
        <p:nvPicPr>
          <p:cNvPr id="323" name="Google Shape;323;p19"/>
          <p:cNvPicPr preferRelativeResize="0"/>
          <p:nvPr/>
        </p:nvPicPr>
        <p:blipFill>
          <a:blip r:embed="rId4">
            <a:alphaModFix/>
          </a:blip>
          <a:stretch>
            <a:fillRect/>
          </a:stretch>
        </p:blipFill>
        <p:spPr>
          <a:xfrm>
            <a:off x="1230650" y="1230800"/>
            <a:ext cx="2611950" cy="1865675"/>
          </a:xfrm>
          <a:prstGeom prst="rect">
            <a:avLst/>
          </a:prstGeom>
          <a:noFill/>
          <a:ln>
            <a:noFill/>
          </a:ln>
        </p:spPr>
      </p:pic>
      <p:pic>
        <p:nvPicPr>
          <p:cNvPr id="324" name="Google Shape;324;p19"/>
          <p:cNvPicPr preferRelativeResize="0"/>
          <p:nvPr/>
        </p:nvPicPr>
        <p:blipFill>
          <a:blip r:embed="rId5">
            <a:alphaModFix/>
          </a:blip>
          <a:stretch>
            <a:fillRect/>
          </a:stretch>
        </p:blipFill>
        <p:spPr>
          <a:xfrm>
            <a:off x="3842600" y="1096425"/>
            <a:ext cx="2722171" cy="1944425"/>
          </a:xfrm>
          <a:prstGeom prst="rect">
            <a:avLst/>
          </a:prstGeom>
          <a:noFill/>
          <a:ln>
            <a:noFill/>
          </a:ln>
        </p:spPr>
      </p:pic>
      <p:pic>
        <p:nvPicPr>
          <p:cNvPr id="325" name="Google Shape;325;p19"/>
          <p:cNvPicPr preferRelativeResize="0"/>
          <p:nvPr/>
        </p:nvPicPr>
        <p:blipFill>
          <a:blip r:embed="rId6">
            <a:alphaModFix/>
          </a:blip>
          <a:stretch>
            <a:fillRect/>
          </a:stretch>
        </p:blipFill>
        <p:spPr>
          <a:xfrm>
            <a:off x="6421825" y="1096439"/>
            <a:ext cx="2722175" cy="194441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0"/>
          <p:cNvSpPr txBox="1">
            <a:spLocks noGrp="1"/>
          </p:cNvSpPr>
          <p:nvPr>
            <p:ph type="title"/>
          </p:nvPr>
        </p:nvSpPr>
        <p:spPr>
          <a:xfrm>
            <a:off x="1303800" y="598575"/>
            <a:ext cx="1358400" cy="71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DEG</a:t>
            </a:r>
            <a:endParaRPr/>
          </a:p>
        </p:txBody>
      </p:sp>
      <p:pic>
        <p:nvPicPr>
          <p:cNvPr id="331" name="Google Shape;331;p20"/>
          <p:cNvPicPr preferRelativeResize="0"/>
          <p:nvPr/>
        </p:nvPicPr>
        <p:blipFill>
          <a:blip r:embed="rId3">
            <a:alphaModFix/>
          </a:blip>
          <a:stretch>
            <a:fillRect/>
          </a:stretch>
        </p:blipFill>
        <p:spPr>
          <a:xfrm>
            <a:off x="6580050" y="1563103"/>
            <a:ext cx="2217176" cy="2219990"/>
          </a:xfrm>
          <a:prstGeom prst="rect">
            <a:avLst/>
          </a:prstGeom>
          <a:noFill/>
          <a:ln>
            <a:noFill/>
          </a:ln>
        </p:spPr>
      </p:pic>
      <p:sp>
        <p:nvSpPr>
          <p:cNvPr id="332" name="Google Shape;332;p20"/>
          <p:cNvSpPr txBox="1">
            <a:spLocks noGrp="1"/>
          </p:cNvSpPr>
          <p:nvPr>
            <p:ph type="body" idx="1"/>
          </p:nvPr>
        </p:nvSpPr>
        <p:spPr>
          <a:xfrm>
            <a:off x="7061573" y="1430475"/>
            <a:ext cx="1498800" cy="320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t>Shigella VS HC</a:t>
            </a:r>
            <a:endParaRPr b="1"/>
          </a:p>
        </p:txBody>
      </p:sp>
      <p:pic>
        <p:nvPicPr>
          <p:cNvPr id="333" name="Google Shape;333;p20"/>
          <p:cNvPicPr preferRelativeResize="0"/>
          <p:nvPr/>
        </p:nvPicPr>
        <p:blipFill>
          <a:blip r:embed="rId4">
            <a:alphaModFix/>
          </a:blip>
          <a:stretch>
            <a:fillRect/>
          </a:stretch>
        </p:blipFill>
        <p:spPr>
          <a:xfrm>
            <a:off x="4521775" y="1601788"/>
            <a:ext cx="2217181" cy="2129025"/>
          </a:xfrm>
          <a:prstGeom prst="rect">
            <a:avLst/>
          </a:prstGeom>
          <a:noFill/>
          <a:ln>
            <a:noFill/>
          </a:ln>
        </p:spPr>
      </p:pic>
      <p:sp>
        <p:nvSpPr>
          <p:cNvPr id="334" name="Google Shape;334;p20"/>
          <p:cNvSpPr txBox="1">
            <a:spLocks noGrp="1"/>
          </p:cNvSpPr>
          <p:nvPr>
            <p:ph type="body" idx="1"/>
          </p:nvPr>
        </p:nvSpPr>
        <p:spPr>
          <a:xfrm>
            <a:off x="4954575" y="1430475"/>
            <a:ext cx="1571400" cy="362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t>Salmonella VS HC</a:t>
            </a:r>
            <a:endParaRPr b="1"/>
          </a:p>
        </p:txBody>
      </p:sp>
      <p:pic>
        <p:nvPicPr>
          <p:cNvPr id="335" name="Google Shape;335;p20"/>
          <p:cNvPicPr preferRelativeResize="0"/>
          <p:nvPr/>
        </p:nvPicPr>
        <p:blipFill>
          <a:blip r:embed="rId5">
            <a:alphaModFix/>
          </a:blip>
          <a:stretch>
            <a:fillRect/>
          </a:stretch>
        </p:blipFill>
        <p:spPr>
          <a:xfrm>
            <a:off x="2460146" y="1606448"/>
            <a:ext cx="2189048" cy="2102025"/>
          </a:xfrm>
          <a:prstGeom prst="rect">
            <a:avLst/>
          </a:prstGeom>
          <a:noFill/>
          <a:ln>
            <a:noFill/>
          </a:ln>
        </p:spPr>
      </p:pic>
      <p:pic>
        <p:nvPicPr>
          <p:cNvPr id="336" name="Google Shape;336;p20"/>
          <p:cNvPicPr preferRelativeResize="0"/>
          <p:nvPr/>
        </p:nvPicPr>
        <p:blipFill>
          <a:blip r:embed="rId6">
            <a:alphaModFix/>
          </a:blip>
          <a:stretch>
            <a:fillRect/>
          </a:stretch>
        </p:blipFill>
        <p:spPr>
          <a:xfrm>
            <a:off x="448025" y="1694970"/>
            <a:ext cx="2075902" cy="1993375"/>
          </a:xfrm>
          <a:prstGeom prst="rect">
            <a:avLst/>
          </a:prstGeom>
          <a:noFill/>
          <a:ln>
            <a:noFill/>
          </a:ln>
        </p:spPr>
      </p:pic>
      <p:sp>
        <p:nvSpPr>
          <p:cNvPr id="337" name="Google Shape;337;p20"/>
          <p:cNvSpPr txBox="1">
            <a:spLocks noGrp="1"/>
          </p:cNvSpPr>
          <p:nvPr>
            <p:ph type="body" idx="1"/>
          </p:nvPr>
        </p:nvSpPr>
        <p:spPr>
          <a:xfrm>
            <a:off x="2908350" y="1430475"/>
            <a:ext cx="1571400" cy="362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t>E Coli VS HC</a:t>
            </a:r>
            <a:endParaRPr b="1"/>
          </a:p>
        </p:txBody>
      </p:sp>
      <p:sp>
        <p:nvSpPr>
          <p:cNvPr id="338" name="Google Shape;338;p20"/>
          <p:cNvSpPr txBox="1">
            <a:spLocks noGrp="1"/>
          </p:cNvSpPr>
          <p:nvPr>
            <p:ph type="body" idx="1"/>
          </p:nvPr>
        </p:nvSpPr>
        <p:spPr>
          <a:xfrm>
            <a:off x="862125" y="1430475"/>
            <a:ext cx="1571400" cy="362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t>Rotavirus VS HC</a:t>
            </a:r>
            <a:endParaRPr b="1"/>
          </a:p>
        </p:txBody>
      </p:sp>
      <p:cxnSp>
        <p:nvCxnSpPr>
          <p:cNvPr id="339" name="Google Shape;339;p20"/>
          <p:cNvCxnSpPr/>
          <p:nvPr/>
        </p:nvCxnSpPr>
        <p:spPr>
          <a:xfrm rot="10800000" flipH="1">
            <a:off x="596075" y="2952650"/>
            <a:ext cx="8115900" cy="6900"/>
          </a:xfrm>
          <a:prstGeom prst="straightConnector1">
            <a:avLst/>
          </a:prstGeom>
          <a:noFill/>
          <a:ln w="28575" cap="flat" cmpd="sng">
            <a:solidFill>
              <a:srgbClr val="FF0000"/>
            </a:solidFill>
            <a:prstDash val="dot"/>
            <a:round/>
            <a:headEnd type="none" w="med" len="med"/>
            <a:tailEnd type="none" w="med" len="med"/>
          </a:ln>
        </p:spPr>
      </p:cxnSp>
      <p:sp>
        <p:nvSpPr>
          <p:cNvPr id="340" name="Google Shape;340;p20"/>
          <p:cNvSpPr txBox="1">
            <a:spLocks noGrp="1"/>
          </p:cNvSpPr>
          <p:nvPr>
            <p:ph type="body" idx="1"/>
          </p:nvPr>
        </p:nvSpPr>
        <p:spPr>
          <a:xfrm>
            <a:off x="73900" y="1694975"/>
            <a:ext cx="788100" cy="238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t>Log10P</a:t>
            </a:r>
            <a:endParaRPr b="1"/>
          </a:p>
        </p:txBody>
      </p:sp>
      <p:sp>
        <p:nvSpPr>
          <p:cNvPr id="341" name="Google Shape;341;p20"/>
          <p:cNvSpPr txBox="1">
            <a:spLocks noGrp="1"/>
          </p:cNvSpPr>
          <p:nvPr>
            <p:ph type="body" idx="1"/>
          </p:nvPr>
        </p:nvSpPr>
        <p:spPr>
          <a:xfrm>
            <a:off x="298000" y="2744800"/>
            <a:ext cx="367800" cy="238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t>5</a:t>
            </a:r>
            <a:endParaRPr b="1"/>
          </a:p>
        </p:txBody>
      </p:sp>
      <p:sp>
        <p:nvSpPr>
          <p:cNvPr id="342" name="Google Shape;342;p20"/>
          <p:cNvSpPr txBox="1">
            <a:spLocks noGrp="1"/>
          </p:cNvSpPr>
          <p:nvPr>
            <p:ph type="body" idx="1"/>
          </p:nvPr>
        </p:nvSpPr>
        <p:spPr>
          <a:xfrm>
            <a:off x="827121" y="3473975"/>
            <a:ext cx="367800" cy="238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t>-2</a:t>
            </a:r>
            <a:endParaRPr b="1"/>
          </a:p>
        </p:txBody>
      </p:sp>
      <p:sp>
        <p:nvSpPr>
          <p:cNvPr id="343" name="Google Shape;343;p20"/>
          <p:cNvSpPr txBox="1">
            <a:spLocks noGrp="1"/>
          </p:cNvSpPr>
          <p:nvPr>
            <p:ph type="body" idx="1"/>
          </p:nvPr>
        </p:nvSpPr>
        <p:spPr>
          <a:xfrm>
            <a:off x="1764875" y="3473975"/>
            <a:ext cx="367800" cy="238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t>2</a:t>
            </a:r>
            <a:endParaRPr b="1"/>
          </a:p>
        </p:txBody>
      </p:sp>
      <p:sp>
        <p:nvSpPr>
          <p:cNvPr id="344" name="Google Shape;344;p20"/>
          <p:cNvSpPr txBox="1">
            <a:spLocks noGrp="1"/>
          </p:cNvSpPr>
          <p:nvPr>
            <p:ph type="body" idx="1"/>
          </p:nvPr>
        </p:nvSpPr>
        <p:spPr>
          <a:xfrm>
            <a:off x="2655921" y="3473975"/>
            <a:ext cx="367800" cy="238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t>-2</a:t>
            </a:r>
            <a:endParaRPr b="1"/>
          </a:p>
        </p:txBody>
      </p:sp>
      <p:sp>
        <p:nvSpPr>
          <p:cNvPr id="345" name="Google Shape;345;p20"/>
          <p:cNvSpPr txBox="1">
            <a:spLocks noGrp="1"/>
          </p:cNvSpPr>
          <p:nvPr>
            <p:ph type="body" idx="1"/>
          </p:nvPr>
        </p:nvSpPr>
        <p:spPr>
          <a:xfrm>
            <a:off x="3798921" y="3473975"/>
            <a:ext cx="367800" cy="238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t>2</a:t>
            </a:r>
            <a:endParaRPr b="1"/>
          </a:p>
        </p:txBody>
      </p:sp>
      <p:sp>
        <p:nvSpPr>
          <p:cNvPr id="346" name="Google Shape;346;p20"/>
          <p:cNvSpPr txBox="1">
            <a:spLocks noGrp="1"/>
          </p:cNvSpPr>
          <p:nvPr>
            <p:ph type="body" idx="1"/>
          </p:nvPr>
        </p:nvSpPr>
        <p:spPr>
          <a:xfrm>
            <a:off x="4713321" y="3473975"/>
            <a:ext cx="367800" cy="238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t>-2</a:t>
            </a:r>
            <a:endParaRPr b="1"/>
          </a:p>
        </p:txBody>
      </p:sp>
      <p:sp>
        <p:nvSpPr>
          <p:cNvPr id="347" name="Google Shape;347;p20"/>
          <p:cNvSpPr txBox="1">
            <a:spLocks noGrp="1"/>
          </p:cNvSpPr>
          <p:nvPr>
            <p:ph type="body" idx="1"/>
          </p:nvPr>
        </p:nvSpPr>
        <p:spPr>
          <a:xfrm>
            <a:off x="5703921" y="3473975"/>
            <a:ext cx="367800" cy="238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t>2</a:t>
            </a:r>
            <a:endParaRPr b="1"/>
          </a:p>
        </p:txBody>
      </p:sp>
      <p:sp>
        <p:nvSpPr>
          <p:cNvPr id="348" name="Google Shape;348;p20"/>
          <p:cNvSpPr txBox="1">
            <a:spLocks noGrp="1"/>
          </p:cNvSpPr>
          <p:nvPr>
            <p:ph type="body" idx="1"/>
          </p:nvPr>
        </p:nvSpPr>
        <p:spPr>
          <a:xfrm>
            <a:off x="6846921" y="3473975"/>
            <a:ext cx="367800" cy="238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t>-2</a:t>
            </a:r>
            <a:endParaRPr b="1"/>
          </a:p>
        </p:txBody>
      </p:sp>
      <p:sp>
        <p:nvSpPr>
          <p:cNvPr id="349" name="Google Shape;349;p20"/>
          <p:cNvSpPr txBox="1">
            <a:spLocks noGrp="1"/>
          </p:cNvSpPr>
          <p:nvPr>
            <p:ph type="body" idx="1"/>
          </p:nvPr>
        </p:nvSpPr>
        <p:spPr>
          <a:xfrm>
            <a:off x="7608921" y="3473975"/>
            <a:ext cx="367800" cy="238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t>-2</a:t>
            </a:r>
            <a:endParaRPr b="1"/>
          </a:p>
        </p:txBody>
      </p:sp>
      <p:cxnSp>
        <p:nvCxnSpPr>
          <p:cNvPr id="350" name="Google Shape;350;p20"/>
          <p:cNvCxnSpPr/>
          <p:nvPr/>
        </p:nvCxnSpPr>
        <p:spPr>
          <a:xfrm flipH="1">
            <a:off x="1050895" y="1836575"/>
            <a:ext cx="3000" cy="1659000"/>
          </a:xfrm>
          <a:prstGeom prst="straightConnector1">
            <a:avLst/>
          </a:prstGeom>
          <a:noFill/>
          <a:ln w="9525" cap="flat" cmpd="sng">
            <a:solidFill>
              <a:srgbClr val="0000FF"/>
            </a:solidFill>
            <a:prstDash val="dot"/>
            <a:round/>
            <a:headEnd type="none" w="med" len="med"/>
            <a:tailEnd type="none" w="med" len="med"/>
          </a:ln>
        </p:spPr>
      </p:cxnSp>
      <p:cxnSp>
        <p:nvCxnSpPr>
          <p:cNvPr id="351" name="Google Shape;351;p20"/>
          <p:cNvCxnSpPr/>
          <p:nvPr/>
        </p:nvCxnSpPr>
        <p:spPr>
          <a:xfrm flipH="1">
            <a:off x="1929985" y="1842460"/>
            <a:ext cx="3000" cy="1659000"/>
          </a:xfrm>
          <a:prstGeom prst="straightConnector1">
            <a:avLst/>
          </a:prstGeom>
          <a:noFill/>
          <a:ln w="9525" cap="flat" cmpd="sng">
            <a:solidFill>
              <a:srgbClr val="0000FF"/>
            </a:solidFill>
            <a:prstDash val="dot"/>
            <a:round/>
            <a:headEnd type="none" w="med" len="med"/>
            <a:tailEnd type="none" w="med" len="med"/>
          </a:ln>
        </p:spPr>
      </p:cxnSp>
      <p:cxnSp>
        <p:nvCxnSpPr>
          <p:cNvPr id="352" name="Google Shape;352;p20"/>
          <p:cNvCxnSpPr/>
          <p:nvPr/>
        </p:nvCxnSpPr>
        <p:spPr>
          <a:xfrm flipH="1">
            <a:off x="2844300" y="1783625"/>
            <a:ext cx="4200" cy="1717800"/>
          </a:xfrm>
          <a:prstGeom prst="straightConnector1">
            <a:avLst/>
          </a:prstGeom>
          <a:noFill/>
          <a:ln w="9525" cap="flat" cmpd="sng">
            <a:solidFill>
              <a:srgbClr val="0000FF"/>
            </a:solidFill>
            <a:prstDash val="dot"/>
            <a:round/>
            <a:headEnd type="none" w="med" len="med"/>
            <a:tailEnd type="none" w="med" len="med"/>
          </a:ln>
        </p:spPr>
      </p:cxnSp>
      <p:cxnSp>
        <p:nvCxnSpPr>
          <p:cNvPr id="353" name="Google Shape;353;p20"/>
          <p:cNvCxnSpPr/>
          <p:nvPr/>
        </p:nvCxnSpPr>
        <p:spPr>
          <a:xfrm flipH="1">
            <a:off x="3987300" y="1783625"/>
            <a:ext cx="4200" cy="1717800"/>
          </a:xfrm>
          <a:prstGeom prst="straightConnector1">
            <a:avLst/>
          </a:prstGeom>
          <a:noFill/>
          <a:ln w="9525" cap="flat" cmpd="sng">
            <a:solidFill>
              <a:srgbClr val="0000FF"/>
            </a:solidFill>
            <a:prstDash val="dot"/>
            <a:round/>
            <a:headEnd type="none" w="med" len="med"/>
            <a:tailEnd type="none" w="med" len="med"/>
          </a:ln>
        </p:spPr>
      </p:cxnSp>
      <p:cxnSp>
        <p:nvCxnSpPr>
          <p:cNvPr id="354" name="Google Shape;354;p20"/>
          <p:cNvCxnSpPr/>
          <p:nvPr/>
        </p:nvCxnSpPr>
        <p:spPr>
          <a:xfrm flipH="1">
            <a:off x="4901700" y="1783625"/>
            <a:ext cx="4200" cy="1717800"/>
          </a:xfrm>
          <a:prstGeom prst="straightConnector1">
            <a:avLst/>
          </a:prstGeom>
          <a:noFill/>
          <a:ln w="9525" cap="flat" cmpd="sng">
            <a:solidFill>
              <a:srgbClr val="0000FF"/>
            </a:solidFill>
            <a:prstDash val="dot"/>
            <a:round/>
            <a:headEnd type="none" w="med" len="med"/>
            <a:tailEnd type="none" w="med" len="med"/>
          </a:ln>
        </p:spPr>
      </p:cxnSp>
      <p:cxnSp>
        <p:nvCxnSpPr>
          <p:cNvPr id="355" name="Google Shape;355;p20"/>
          <p:cNvCxnSpPr/>
          <p:nvPr/>
        </p:nvCxnSpPr>
        <p:spPr>
          <a:xfrm flipH="1">
            <a:off x="5886415" y="1783625"/>
            <a:ext cx="4200" cy="1717800"/>
          </a:xfrm>
          <a:prstGeom prst="straightConnector1">
            <a:avLst/>
          </a:prstGeom>
          <a:noFill/>
          <a:ln w="9525" cap="flat" cmpd="sng">
            <a:solidFill>
              <a:srgbClr val="0000FF"/>
            </a:solidFill>
            <a:prstDash val="dot"/>
            <a:round/>
            <a:headEnd type="none" w="med" len="med"/>
            <a:tailEnd type="none" w="med" len="med"/>
          </a:ln>
        </p:spPr>
      </p:cxnSp>
      <p:cxnSp>
        <p:nvCxnSpPr>
          <p:cNvPr id="356" name="Google Shape;356;p20"/>
          <p:cNvCxnSpPr/>
          <p:nvPr/>
        </p:nvCxnSpPr>
        <p:spPr>
          <a:xfrm>
            <a:off x="7056300" y="1742425"/>
            <a:ext cx="2700" cy="1811700"/>
          </a:xfrm>
          <a:prstGeom prst="straightConnector1">
            <a:avLst/>
          </a:prstGeom>
          <a:noFill/>
          <a:ln w="9525" cap="flat" cmpd="sng">
            <a:solidFill>
              <a:srgbClr val="0000FF"/>
            </a:solidFill>
            <a:prstDash val="dot"/>
            <a:round/>
            <a:headEnd type="none" w="med" len="med"/>
            <a:tailEnd type="none" w="med" len="med"/>
          </a:ln>
        </p:spPr>
      </p:cxnSp>
      <p:cxnSp>
        <p:nvCxnSpPr>
          <p:cNvPr id="357" name="Google Shape;357;p20"/>
          <p:cNvCxnSpPr>
            <a:stCxn id="332" idx="2"/>
          </p:cNvCxnSpPr>
          <p:nvPr/>
        </p:nvCxnSpPr>
        <p:spPr>
          <a:xfrm>
            <a:off x="7810973" y="1750575"/>
            <a:ext cx="4200" cy="1803600"/>
          </a:xfrm>
          <a:prstGeom prst="straightConnector1">
            <a:avLst/>
          </a:prstGeom>
          <a:noFill/>
          <a:ln w="9525" cap="flat" cmpd="sng">
            <a:solidFill>
              <a:srgbClr val="0000FF"/>
            </a:solidFill>
            <a:prstDash val="dot"/>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pic>
        <p:nvPicPr>
          <p:cNvPr id="362" name="Google Shape;362;p21"/>
          <p:cNvPicPr preferRelativeResize="0"/>
          <p:nvPr/>
        </p:nvPicPr>
        <p:blipFill>
          <a:blip r:embed="rId3">
            <a:alphaModFix/>
          </a:blip>
          <a:stretch>
            <a:fillRect/>
          </a:stretch>
        </p:blipFill>
        <p:spPr>
          <a:xfrm>
            <a:off x="2163550" y="1165700"/>
            <a:ext cx="5439774" cy="3885526"/>
          </a:xfrm>
          <a:prstGeom prst="rect">
            <a:avLst/>
          </a:prstGeom>
          <a:noFill/>
          <a:ln>
            <a:noFill/>
          </a:ln>
        </p:spPr>
      </p:pic>
      <p:pic>
        <p:nvPicPr>
          <p:cNvPr id="363" name="Google Shape;363;p21"/>
          <p:cNvPicPr preferRelativeResize="0"/>
          <p:nvPr/>
        </p:nvPicPr>
        <p:blipFill>
          <a:blip r:embed="rId4">
            <a:alphaModFix/>
          </a:blip>
          <a:stretch>
            <a:fillRect/>
          </a:stretch>
        </p:blipFill>
        <p:spPr>
          <a:xfrm>
            <a:off x="6160574" y="1165700"/>
            <a:ext cx="1857375" cy="1476375"/>
          </a:xfrm>
          <a:prstGeom prst="rect">
            <a:avLst/>
          </a:prstGeom>
          <a:noFill/>
          <a:ln>
            <a:noFill/>
          </a:ln>
        </p:spPr>
      </p:pic>
      <p:sp>
        <p:nvSpPr>
          <p:cNvPr id="364" name="Google Shape;364;p2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Replication of Findings</a:t>
            </a:r>
            <a:endParaRPr/>
          </a:p>
        </p:txBody>
      </p:sp>
      <p:sp>
        <p:nvSpPr>
          <p:cNvPr id="365" name="Google Shape;365;p21"/>
          <p:cNvSpPr txBox="1"/>
          <p:nvPr/>
        </p:nvSpPr>
        <p:spPr>
          <a:xfrm>
            <a:off x="661150" y="1736900"/>
            <a:ext cx="3148800" cy="210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unito"/>
                <a:ea typeface="Nunito"/>
                <a:cs typeface="Nunito"/>
                <a:sym typeface="Nunito"/>
              </a:rPr>
              <a:t>	</a:t>
            </a:r>
            <a:endParaRPr>
              <a:latin typeface="Nunito"/>
              <a:ea typeface="Nunito"/>
              <a:cs typeface="Nunito"/>
              <a:sym typeface="Nunito"/>
            </a:endParaRPr>
          </a:p>
          <a:p>
            <a:pPr marL="457200" lvl="0" indent="-317500" algn="l" rtl="0">
              <a:spcBef>
                <a:spcPts val="0"/>
              </a:spcBef>
              <a:spcAft>
                <a:spcPts val="0"/>
              </a:spcAft>
              <a:buSzPts val="1400"/>
              <a:buFont typeface="Nunito"/>
              <a:buChar char="-"/>
            </a:pPr>
            <a:r>
              <a:rPr lang="en">
                <a:latin typeface="Nunito"/>
                <a:ea typeface="Nunito"/>
                <a:cs typeface="Nunito"/>
                <a:sym typeface="Nunito"/>
              </a:rPr>
              <a:t>8	</a:t>
            </a:r>
            <a:r>
              <a:rPr lang="en" i="1">
                <a:latin typeface="Nunito"/>
                <a:ea typeface="Nunito"/>
                <a:cs typeface="Nunito"/>
                <a:sym typeface="Nunito"/>
              </a:rPr>
              <a:t>E. coli</a:t>
            </a:r>
            <a:endParaRPr i="1">
              <a:latin typeface="Nunito"/>
              <a:ea typeface="Nunito"/>
              <a:cs typeface="Nunito"/>
              <a:sym typeface="Nunito"/>
            </a:endParaRPr>
          </a:p>
          <a:p>
            <a:pPr marL="457200" lvl="0" indent="-317500" algn="l" rtl="0">
              <a:spcBef>
                <a:spcPts val="0"/>
              </a:spcBef>
              <a:spcAft>
                <a:spcPts val="0"/>
              </a:spcAft>
              <a:buSzPts val="1400"/>
              <a:buFont typeface="Nunito"/>
              <a:buChar char="-"/>
            </a:pPr>
            <a:r>
              <a:rPr lang="en">
                <a:latin typeface="Nunito"/>
                <a:ea typeface="Nunito"/>
                <a:cs typeface="Nunito"/>
                <a:sym typeface="Nunito"/>
              </a:rPr>
              <a:t>97	Salmonella</a:t>
            </a:r>
            <a:endParaRPr>
              <a:latin typeface="Nunito"/>
              <a:ea typeface="Nunito"/>
              <a:cs typeface="Nunito"/>
              <a:sym typeface="Nunito"/>
            </a:endParaRPr>
          </a:p>
          <a:p>
            <a:pPr marL="457200" lvl="0" indent="-317500" algn="l" rtl="0">
              <a:spcBef>
                <a:spcPts val="0"/>
              </a:spcBef>
              <a:spcAft>
                <a:spcPts val="0"/>
              </a:spcAft>
              <a:buSzPts val="1400"/>
              <a:buFont typeface="Nunito"/>
              <a:buChar char="-"/>
            </a:pPr>
            <a:r>
              <a:rPr lang="en">
                <a:latin typeface="Nunito"/>
                <a:ea typeface="Nunito"/>
                <a:cs typeface="Nunito"/>
                <a:sym typeface="Nunito"/>
              </a:rPr>
              <a:t>192 	Rotavirus</a:t>
            </a:r>
            <a:endParaRPr>
              <a:latin typeface="Nunito"/>
              <a:ea typeface="Nunito"/>
              <a:cs typeface="Nunito"/>
              <a:sym typeface="Nunito"/>
            </a:endParaRPr>
          </a:p>
          <a:p>
            <a:pPr marL="457200" lvl="0" indent="-317500" algn="l" rtl="0">
              <a:spcBef>
                <a:spcPts val="0"/>
              </a:spcBef>
              <a:spcAft>
                <a:spcPts val="0"/>
              </a:spcAft>
              <a:buSzPts val="1400"/>
              <a:buFont typeface="Nunito"/>
              <a:buChar char="-"/>
            </a:pPr>
            <a:r>
              <a:rPr lang="en">
                <a:latin typeface="Nunito"/>
                <a:ea typeface="Nunito"/>
                <a:cs typeface="Nunito"/>
                <a:sym typeface="Nunito"/>
              </a:rPr>
              <a:t>239 	Shigella</a:t>
            </a:r>
            <a:endParaRPr>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3"/>
                                        </p:tgtEl>
                                        <p:attrNameLst>
                                          <p:attrName>style.visibility</p:attrName>
                                        </p:attrNameLst>
                                      </p:cBhvr>
                                      <p:to>
                                        <p:strVal val="visible"/>
                                      </p:to>
                                    </p:set>
                                    <p:animEffect transition="in" filter="fade">
                                      <p:cBhvr>
                                        <p:cTn id="7" dur="1000"/>
                                        <p:tgtEl>
                                          <p:spTgt spid="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Effect of patient sex on response to pathogen </a:t>
            </a:r>
            <a:endParaRPr/>
          </a:p>
        </p:txBody>
      </p:sp>
      <p:sp>
        <p:nvSpPr>
          <p:cNvPr id="371" name="Google Shape;371;p22"/>
          <p:cNvSpPr txBox="1">
            <a:spLocks noGrp="1"/>
          </p:cNvSpPr>
          <p:nvPr>
            <p:ph type="body" idx="1"/>
          </p:nvPr>
        </p:nvSpPr>
        <p:spPr>
          <a:xfrm>
            <a:off x="4809925" y="1990050"/>
            <a:ext cx="3524400" cy="25416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Representative plot of p-value distribution for interaction between patient sex and response to Shigella</a:t>
            </a:r>
            <a:endParaRPr/>
          </a:p>
          <a:p>
            <a:pPr marL="457200" lvl="0" indent="-311150" algn="l" rtl="0">
              <a:spcBef>
                <a:spcPts val="0"/>
              </a:spcBef>
              <a:spcAft>
                <a:spcPts val="0"/>
              </a:spcAft>
              <a:buSzPts val="1300"/>
              <a:buChar char="-"/>
            </a:pPr>
            <a:r>
              <a:rPr lang="en"/>
              <a:t>No interaction observed for this or any other diarrhoeal pathogen</a:t>
            </a:r>
            <a:endParaRPr/>
          </a:p>
          <a:p>
            <a:pPr marL="0" lvl="0" indent="0" algn="l" rtl="0">
              <a:spcBef>
                <a:spcPts val="1600"/>
              </a:spcBef>
              <a:spcAft>
                <a:spcPts val="1600"/>
              </a:spcAft>
              <a:buNone/>
            </a:pPr>
            <a:endParaRPr/>
          </a:p>
        </p:txBody>
      </p:sp>
      <p:pic>
        <p:nvPicPr>
          <p:cNvPr id="372" name="Google Shape;372;p22"/>
          <p:cNvPicPr preferRelativeResize="0"/>
          <p:nvPr/>
        </p:nvPicPr>
        <p:blipFill>
          <a:blip r:embed="rId3">
            <a:alphaModFix/>
          </a:blip>
          <a:stretch>
            <a:fillRect/>
          </a:stretch>
        </p:blipFill>
        <p:spPr>
          <a:xfrm>
            <a:off x="509600" y="1750275"/>
            <a:ext cx="4147925" cy="2962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2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Low bias due to multifunctionality</a:t>
            </a:r>
            <a:endParaRPr/>
          </a:p>
        </p:txBody>
      </p:sp>
      <p:pic>
        <p:nvPicPr>
          <p:cNvPr id="378" name="Google Shape;378;p23"/>
          <p:cNvPicPr preferRelativeResize="0"/>
          <p:nvPr/>
        </p:nvPicPr>
        <p:blipFill>
          <a:blip r:embed="rId3">
            <a:alphaModFix/>
          </a:blip>
          <a:stretch>
            <a:fillRect/>
          </a:stretch>
        </p:blipFill>
        <p:spPr>
          <a:xfrm>
            <a:off x="684425" y="1597875"/>
            <a:ext cx="4150475" cy="2964625"/>
          </a:xfrm>
          <a:prstGeom prst="rect">
            <a:avLst/>
          </a:prstGeom>
          <a:noFill/>
          <a:ln>
            <a:noFill/>
          </a:ln>
        </p:spPr>
      </p:pic>
      <p:sp>
        <p:nvSpPr>
          <p:cNvPr id="379" name="Google Shape;379;p23"/>
          <p:cNvSpPr txBox="1"/>
          <p:nvPr/>
        </p:nvSpPr>
        <p:spPr>
          <a:xfrm>
            <a:off x="5054825" y="1673475"/>
            <a:ext cx="3063600" cy="25233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Font typeface="Nunito"/>
              <a:buChar char="-"/>
            </a:pPr>
            <a:r>
              <a:rPr lang="en">
                <a:latin typeface="Nunito"/>
                <a:ea typeface="Nunito"/>
                <a:cs typeface="Nunito"/>
                <a:sym typeface="Nunito"/>
              </a:rPr>
              <a:t>How do Shigella gene enrichment results hold up to multifunctionality?</a:t>
            </a:r>
            <a:endParaRPr>
              <a:latin typeface="Nunito"/>
              <a:ea typeface="Nunito"/>
              <a:cs typeface="Nunito"/>
              <a:sym typeface="Nunito"/>
            </a:endParaRPr>
          </a:p>
          <a:p>
            <a:pPr marL="457200" lvl="0" indent="-317500" algn="l" rtl="0">
              <a:spcBef>
                <a:spcPts val="0"/>
              </a:spcBef>
              <a:spcAft>
                <a:spcPts val="0"/>
              </a:spcAft>
              <a:buSzPts val="1400"/>
              <a:buFont typeface="Nunito"/>
              <a:buChar char="-"/>
            </a:pPr>
            <a:r>
              <a:rPr lang="en">
                <a:latin typeface="Nunito"/>
                <a:ea typeface="Nunito"/>
                <a:cs typeface="Nunito"/>
                <a:sym typeface="Nunito"/>
              </a:rPr>
              <a:t>ErmineR package</a:t>
            </a:r>
            <a:endParaRPr>
              <a:latin typeface="Nunito"/>
              <a:ea typeface="Nunito"/>
              <a:cs typeface="Nunito"/>
              <a:sym typeface="Nunito"/>
            </a:endParaRPr>
          </a:p>
          <a:p>
            <a:pPr marL="457200" lvl="0" indent="-317500" algn="l" rtl="0">
              <a:spcBef>
                <a:spcPts val="0"/>
              </a:spcBef>
              <a:spcAft>
                <a:spcPts val="0"/>
              </a:spcAft>
              <a:buSzPts val="1400"/>
              <a:buFont typeface="Nunito"/>
              <a:buChar char="-"/>
            </a:pPr>
            <a:r>
              <a:rPr lang="en">
                <a:latin typeface="Nunito"/>
                <a:ea typeface="Nunito"/>
                <a:cs typeface="Nunito"/>
                <a:sym typeface="Nunito"/>
              </a:rPr>
              <a:t>Small negative correlation</a:t>
            </a:r>
            <a:endParaRPr>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2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Multifunctionality analysis</a:t>
            </a:r>
            <a:endParaRPr/>
          </a:p>
        </p:txBody>
      </p:sp>
      <p:pic>
        <p:nvPicPr>
          <p:cNvPr id="385" name="Google Shape;385;p24"/>
          <p:cNvPicPr preferRelativeResize="0"/>
          <p:nvPr/>
        </p:nvPicPr>
        <p:blipFill>
          <a:blip r:embed="rId3">
            <a:alphaModFix/>
          </a:blip>
          <a:stretch>
            <a:fillRect/>
          </a:stretch>
        </p:blipFill>
        <p:spPr>
          <a:xfrm>
            <a:off x="1160150" y="1500538"/>
            <a:ext cx="3240826" cy="3240826"/>
          </a:xfrm>
          <a:prstGeom prst="rect">
            <a:avLst/>
          </a:prstGeom>
          <a:noFill/>
          <a:ln>
            <a:noFill/>
          </a:ln>
        </p:spPr>
      </p:pic>
      <p:sp>
        <p:nvSpPr>
          <p:cNvPr id="386" name="Google Shape;386;p24"/>
          <p:cNvSpPr txBox="1"/>
          <p:nvPr/>
        </p:nvSpPr>
        <p:spPr>
          <a:xfrm>
            <a:off x="4960400" y="1547875"/>
            <a:ext cx="3496500" cy="10320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Font typeface="Nunito"/>
              <a:buChar char="-"/>
            </a:pPr>
            <a:r>
              <a:rPr lang="en">
                <a:latin typeface="Nunito"/>
                <a:ea typeface="Nunito"/>
                <a:cs typeface="Nunito"/>
                <a:sym typeface="Nunito"/>
              </a:rPr>
              <a:t>Most significant biological processes related to immunity</a:t>
            </a:r>
            <a:endParaRPr>
              <a:latin typeface="Nunito"/>
              <a:ea typeface="Nunito"/>
              <a:cs typeface="Nunito"/>
              <a:sym typeface="Nunito"/>
            </a:endParaRPr>
          </a:p>
          <a:p>
            <a:pPr marL="457200" lvl="0" indent="-317500" algn="l" rtl="0">
              <a:spcBef>
                <a:spcPts val="0"/>
              </a:spcBef>
              <a:spcAft>
                <a:spcPts val="0"/>
              </a:spcAft>
              <a:buSzPts val="1400"/>
              <a:buFont typeface="Nunito"/>
              <a:buChar char="-"/>
            </a:pPr>
            <a:r>
              <a:rPr lang="en">
                <a:latin typeface="Nunito"/>
                <a:ea typeface="Nunito"/>
                <a:cs typeface="Nunito"/>
                <a:sym typeface="Nunito"/>
              </a:rPr>
              <a:t>Significance of 3 GO categories reduced for multifunctionality</a:t>
            </a:r>
            <a:endParaRPr>
              <a:latin typeface="Nunito"/>
              <a:ea typeface="Nunito"/>
              <a:cs typeface="Nunito"/>
              <a:sym typeface="Nunito"/>
            </a:endParaRPr>
          </a:p>
          <a:p>
            <a:pPr marL="457200" lvl="0" indent="0" algn="l" rtl="0">
              <a:spcBef>
                <a:spcPts val="0"/>
              </a:spcBef>
              <a:spcAft>
                <a:spcPts val="0"/>
              </a:spcAft>
              <a:buNone/>
            </a:pPr>
            <a:endParaRPr>
              <a:latin typeface="Nunito"/>
              <a:ea typeface="Nunito"/>
              <a:cs typeface="Nunito"/>
              <a:sym typeface="Nunito"/>
            </a:endParaRPr>
          </a:p>
        </p:txBody>
      </p:sp>
      <p:pic>
        <p:nvPicPr>
          <p:cNvPr id="387" name="Google Shape;387;p24"/>
          <p:cNvPicPr preferRelativeResize="0"/>
          <p:nvPr/>
        </p:nvPicPr>
        <p:blipFill>
          <a:blip r:embed="rId4">
            <a:alphaModFix/>
          </a:blip>
          <a:stretch>
            <a:fillRect/>
          </a:stretch>
        </p:blipFill>
        <p:spPr>
          <a:xfrm>
            <a:off x="4577400" y="2684627"/>
            <a:ext cx="3756896" cy="211327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fade thruBlk="1"/>
      </p:transition>
    </mc:Choice>
    <mc:Fallback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7"/>
                                        </p:tgtEl>
                                        <p:attrNameLst>
                                          <p:attrName>style.visibility</p:attrName>
                                        </p:attrNameLst>
                                      </p:cBhvr>
                                      <p:to>
                                        <p:strVal val="visible"/>
                                      </p:to>
                                    </p:set>
                                    <p:animEffect transition="in" filter="fade">
                                      <p:cBhvr>
                                        <p:cTn id="7" dur="1000"/>
                                        <p:tgtEl>
                                          <p:spTgt spid="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2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A classifier for pathogen type</a:t>
            </a:r>
            <a:endParaRPr/>
          </a:p>
        </p:txBody>
      </p:sp>
      <p:sp>
        <p:nvSpPr>
          <p:cNvPr id="393" name="Google Shape;393;p25"/>
          <p:cNvSpPr txBox="1">
            <a:spLocks noGrp="1"/>
          </p:cNvSpPr>
          <p:nvPr>
            <p:ph type="body" idx="1"/>
          </p:nvPr>
        </p:nvSpPr>
        <p:spPr>
          <a:xfrm>
            <a:off x="1056750" y="1231025"/>
            <a:ext cx="7030500" cy="23838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t>Challenges:</a:t>
            </a:r>
            <a:endParaRPr sz="1800"/>
          </a:p>
          <a:p>
            <a:pPr marL="914400" lvl="1" indent="-342900" algn="l" rtl="0">
              <a:spcBef>
                <a:spcPts val="0"/>
              </a:spcBef>
              <a:spcAft>
                <a:spcPts val="0"/>
              </a:spcAft>
              <a:buSzPts val="1800"/>
              <a:buChar char="○"/>
            </a:pPr>
            <a:r>
              <a:rPr lang="en" sz="1400"/>
              <a:t>High Dimensional Data</a:t>
            </a:r>
            <a:endParaRPr sz="1400"/>
          </a:p>
          <a:p>
            <a:pPr marL="914400" lvl="1" indent="-342900" algn="l" rtl="0">
              <a:spcBef>
                <a:spcPts val="0"/>
              </a:spcBef>
              <a:spcAft>
                <a:spcPts val="0"/>
              </a:spcAft>
              <a:buSzPts val="1800"/>
              <a:buChar char="○"/>
            </a:pPr>
            <a:r>
              <a:rPr lang="en" sz="1400"/>
              <a:t>Sample size is small, Multiple response variable</a:t>
            </a:r>
            <a:endParaRPr sz="1800"/>
          </a:p>
          <a:p>
            <a:pPr marL="457200" lvl="0" indent="-342900" algn="l" rtl="0">
              <a:spcBef>
                <a:spcPts val="0"/>
              </a:spcBef>
              <a:spcAft>
                <a:spcPts val="0"/>
              </a:spcAft>
              <a:buSzPts val="1800"/>
              <a:buChar char="●"/>
            </a:pPr>
            <a:r>
              <a:rPr lang="en" sz="1800"/>
              <a:t>Gene selection</a:t>
            </a:r>
            <a:endParaRPr sz="1800"/>
          </a:p>
          <a:p>
            <a:pPr marL="914400" lvl="1" indent="-342900" algn="l" rtl="0">
              <a:spcBef>
                <a:spcPts val="0"/>
              </a:spcBef>
              <a:spcAft>
                <a:spcPts val="0"/>
              </a:spcAft>
              <a:buSzPts val="1800"/>
              <a:buChar char="○"/>
            </a:pPr>
            <a:r>
              <a:rPr lang="en" sz="1400"/>
              <a:t>Manual genes selection</a:t>
            </a:r>
            <a:endParaRPr sz="1400"/>
          </a:p>
          <a:p>
            <a:pPr marL="914400" lvl="1" indent="-342900" algn="l" rtl="0">
              <a:spcBef>
                <a:spcPts val="0"/>
              </a:spcBef>
              <a:spcAft>
                <a:spcPts val="0"/>
              </a:spcAft>
              <a:buSzPts val="1800"/>
              <a:buChar char="○"/>
            </a:pPr>
            <a:r>
              <a:rPr lang="en" sz="1400"/>
              <a:t>Regularization: Not implemented</a:t>
            </a:r>
            <a:endParaRPr sz="1800"/>
          </a:p>
          <a:p>
            <a:pPr marL="457200" lvl="0" indent="-342900" algn="l" rtl="0">
              <a:spcBef>
                <a:spcPts val="0"/>
              </a:spcBef>
              <a:spcAft>
                <a:spcPts val="0"/>
              </a:spcAft>
              <a:buSzPts val="1800"/>
              <a:buChar char="●"/>
            </a:pPr>
            <a:r>
              <a:rPr lang="en" sz="1800"/>
              <a:t>Category(pathogen type) reduction</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pic>
        <p:nvPicPr>
          <p:cNvPr id="398" name="Google Shape;398;p26"/>
          <p:cNvPicPr preferRelativeResize="0"/>
          <p:nvPr/>
        </p:nvPicPr>
        <p:blipFill>
          <a:blip r:embed="rId3">
            <a:alphaModFix/>
          </a:blip>
          <a:stretch>
            <a:fillRect/>
          </a:stretch>
        </p:blipFill>
        <p:spPr>
          <a:xfrm>
            <a:off x="1910125" y="1834250"/>
            <a:ext cx="4838325" cy="3607525"/>
          </a:xfrm>
          <a:prstGeom prst="rect">
            <a:avLst/>
          </a:prstGeom>
          <a:noFill/>
          <a:ln>
            <a:noFill/>
          </a:ln>
        </p:spPr>
      </p:pic>
      <p:sp>
        <p:nvSpPr>
          <p:cNvPr id="399" name="Google Shape;399;p26"/>
          <p:cNvSpPr txBox="1">
            <a:spLocks noGrp="1"/>
          </p:cNvSpPr>
          <p:nvPr>
            <p:ph type="title"/>
          </p:nvPr>
        </p:nvSpPr>
        <p:spPr>
          <a:xfrm>
            <a:off x="1303800" y="598575"/>
            <a:ext cx="7030500" cy="80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Gene Selection</a:t>
            </a:r>
            <a:endParaRPr/>
          </a:p>
        </p:txBody>
      </p:sp>
      <p:sp>
        <p:nvSpPr>
          <p:cNvPr id="400" name="Google Shape;400;p26"/>
          <p:cNvSpPr txBox="1">
            <a:spLocks noGrp="1"/>
          </p:cNvSpPr>
          <p:nvPr>
            <p:ph type="body" idx="1"/>
          </p:nvPr>
        </p:nvSpPr>
        <p:spPr>
          <a:xfrm>
            <a:off x="2219675" y="2184325"/>
            <a:ext cx="1556700" cy="11610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b="1"/>
              <a:t>C17orf100</a:t>
            </a:r>
            <a:endParaRPr b="1"/>
          </a:p>
          <a:p>
            <a:pPr marL="0" lvl="0" indent="0" algn="ctr" rtl="0">
              <a:lnSpc>
                <a:spcPct val="100000"/>
              </a:lnSpc>
              <a:spcBef>
                <a:spcPts val="0"/>
              </a:spcBef>
              <a:spcAft>
                <a:spcPts val="0"/>
              </a:spcAft>
              <a:buNone/>
            </a:pPr>
            <a:r>
              <a:rPr lang="en" b="1"/>
              <a:t>C21orf62-AS1</a:t>
            </a:r>
            <a:endParaRPr b="1"/>
          </a:p>
          <a:p>
            <a:pPr marL="0" lvl="0" indent="0" algn="ctr" rtl="0">
              <a:lnSpc>
                <a:spcPct val="100000"/>
              </a:lnSpc>
              <a:spcBef>
                <a:spcPts val="0"/>
              </a:spcBef>
              <a:spcAft>
                <a:spcPts val="0"/>
              </a:spcAft>
              <a:buNone/>
            </a:pPr>
            <a:r>
              <a:rPr lang="en" b="1"/>
              <a:t>MCEMP1</a:t>
            </a:r>
            <a:endParaRPr b="1"/>
          </a:p>
          <a:p>
            <a:pPr marL="0" lvl="0" indent="0" algn="ctr" rtl="0">
              <a:lnSpc>
                <a:spcPct val="100000"/>
              </a:lnSpc>
              <a:spcBef>
                <a:spcPts val="0"/>
              </a:spcBef>
              <a:spcAft>
                <a:spcPts val="0"/>
              </a:spcAft>
              <a:buNone/>
            </a:pPr>
            <a:r>
              <a:rPr lang="en" b="1"/>
              <a:t>GPR84</a:t>
            </a:r>
            <a:endParaRPr b="1"/>
          </a:p>
          <a:p>
            <a:pPr marL="0" lvl="0" indent="0" algn="ctr" rtl="0">
              <a:lnSpc>
                <a:spcPct val="100000"/>
              </a:lnSpc>
              <a:spcBef>
                <a:spcPts val="0"/>
              </a:spcBef>
              <a:spcAft>
                <a:spcPts val="0"/>
              </a:spcAft>
              <a:buNone/>
            </a:pPr>
            <a:r>
              <a:rPr lang="en" b="1"/>
              <a:t>ARG1</a:t>
            </a:r>
            <a:endParaRPr b="1"/>
          </a:p>
        </p:txBody>
      </p:sp>
      <p:sp>
        <p:nvSpPr>
          <p:cNvPr id="401" name="Google Shape;401;p26"/>
          <p:cNvSpPr txBox="1">
            <a:spLocks noGrp="1"/>
          </p:cNvSpPr>
          <p:nvPr>
            <p:ph type="body" idx="1"/>
          </p:nvPr>
        </p:nvSpPr>
        <p:spPr>
          <a:xfrm>
            <a:off x="5211825" y="2487000"/>
            <a:ext cx="1556700" cy="7518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b="1"/>
              <a:t>SIGLEC1</a:t>
            </a:r>
            <a:endParaRPr b="1"/>
          </a:p>
          <a:p>
            <a:pPr marL="0" lvl="0" indent="0" algn="ctr" rtl="0">
              <a:lnSpc>
                <a:spcPct val="100000"/>
              </a:lnSpc>
              <a:spcBef>
                <a:spcPts val="0"/>
              </a:spcBef>
              <a:spcAft>
                <a:spcPts val="0"/>
              </a:spcAft>
              <a:buNone/>
            </a:pPr>
            <a:r>
              <a:rPr lang="en" b="1"/>
              <a:t>OTOF</a:t>
            </a:r>
            <a:endParaRPr b="1"/>
          </a:p>
          <a:p>
            <a:pPr marL="0" lvl="0" indent="0" algn="ctr" rtl="0">
              <a:lnSpc>
                <a:spcPct val="100000"/>
              </a:lnSpc>
              <a:spcBef>
                <a:spcPts val="0"/>
              </a:spcBef>
              <a:spcAft>
                <a:spcPts val="0"/>
              </a:spcAft>
              <a:buNone/>
            </a:pPr>
            <a:r>
              <a:rPr lang="en" b="1"/>
              <a:t>DNAAF1</a:t>
            </a:r>
            <a:endParaRPr b="1"/>
          </a:p>
          <a:p>
            <a:pPr marL="0" lvl="0" indent="0" algn="l" rtl="0">
              <a:lnSpc>
                <a:spcPct val="100000"/>
              </a:lnSpc>
              <a:spcBef>
                <a:spcPts val="0"/>
              </a:spcBef>
              <a:spcAft>
                <a:spcPts val="0"/>
              </a:spcAft>
              <a:buNone/>
            </a:pPr>
            <a:endParaRPr b="1"/>
          </a:p>
        </p:txBody>
      </p:sp>
      <p:sp>
        <p:nvSpPr>
          <p:cNvPr id="402" name="Google Shape;402;p26"/>
          <p:cNvSpPr txBox="1">
            <a:spLocks noGrp="1"/>
          </p:cNvSpPr>
          <p:nvPr>
            <p:ph type="body" idx="1"/>
          </p:nvPr>
        </p:nvSpPr>
        <p:spPr>
          <a:xfrm>
            <a:off x="3776375" y="3010400"/>
            <a:ext cx="1556700" cy="6435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b="1"/>
              <a:t>KIR2DS4</a:t>
            </a:r>
            <a:endParaRPr b="1"/>
          </a:p>
          <a:p>
            <a:pPr marL="0" lvl="0" indent="0" algn="ctr" rtl="0">
              <a:lnSpc>
                <a:spcPct val="100000"/>
              </a:lnSpc>
              <a:spcBef>
                <a:spcPts val="0"/>
              </a:spcBef>
              <a:spcAft>
                <a:spcPts val="0"/>
              </a:spcAft>
              <a:buNone/>
            </a:pPr>
            <a:r>
              <a:rPr lang="en" b="1"/>
              <a:t>CD177</a:t>
            </a:r>
            <a:endParaRPr b="1"/>
          </a:p>
          <a:p>
            <a:pPr marL="0" lvl="0" indent="0" algn="ctr" rtl="0">
              <a:lnSpc>
                <a:spcPct val="100000"/>
              </a:lnSpc>
              <a:spcBef>
                <a:spcPts val="0"/>
              </a:spcBef>
              <a:spcAft>
                <a:spcPts val="0"/>
              </a:spcAft>
              <a:buNone/>
            </a:pPr>
            <a:endParaRPr b="1"/>
          </a:p>
        </p:txBody>
      </p:sp>
      <p:sp>
        <p:nvSpPr>
          <p:cNvPr id="403" name="Google Shape;403;p26"/>
          <p:cNvSpPr txBox="1"/>
          <p:nvPr/>
        </p:nvSpPr>
        <p:spPr>
          <a:xfrm>
            <a:off x="1786350" y="1270000"/>
            <a:ext cx="5812500" cy="8079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Clr>
                <a:schemeClr val="dk2"/>
              </a:buClr>
              <a:buSzPts val="1800"/>
              <a:buFont typeface="Nunito"/>
              <a:buChar char="●"/>
            </a:pPr>
            <a:r>
              <a:rPr lang="en" sz="1800">
                <a:solidFill>
                  <a:schemeClr val="dk2"/>
                </a:solidFill>
                <a:latin typeface="Nunito"/>
                <a:ea typeface="Nunito"/>
                <a:cs typeface="Nunito"/>
                <a:sym typeface="Nunito"/>
              </a:rPr>
              <a:t>Rotavirus 3 fold change P.val  &lt;0.01</a:t>
            </a:r>
            <a:endParaRPr sz="1800">
              <a:solidFill>
                <a:schemeClr val="dk2"/>
              </a:solidFill>
              <a:latin typeface="Nunito"/>
              <a:ea typeface="Nunito"/>
              <a:cs typeface="Nunito"/>
              <a:sym typeface="Nunito"/>
            </a:endParaRPr>
          </a:p>
          <a:p>
            <a:pPr marL="457200" lvl="0" indent="-342900" algn="l" rtl="0">
              <a:lnSpc>
                <a:spcPct val="100000"/>
              </a:lnSpc>
              <a:spcBef>
                <a:spcPts val="0"/>
              </a:spcBef>
              <a:spcAft>
                <a:spcPts val="0"/>
              </a:spcAft>
              <a:buClr>
                <a:schemeClr val="dk2"/>
              </a:buClr>
              <a:buSzPts val="1800"/>
              <a:buFont typeface="Nunito"/>
              <a:buChar char="●"/>
            </a:pPr>
            <a:r>
              <a:rPr lang="en" sz="1800">
                <a:solidFill>
                  <a:schemeClr val="dk2"/>
                </a:solidFill>
                <a:latin typeface="Nunito"/>
                <a:ea typeface="Nunito"/>
                <a:cs typeface="Nunito"/>
                <a:sym typeface="Nunito"/>
              </a:rPr>
              <a:t>Bacterial 2 fold change P.val &lt;0.05</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2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Rationale of Classifier</a:t>
            </a:r>
            <a:endParaRPr/>
          </a:p>
        </p:txBody>
      </p:sp>
      <p:grpSp>
        <p:nvGrpSpPr>
          <p:cNvPr id="409" name="Google Shape;409;p27"/>
          <p:cNvGrpSpPr/>
          <p:nvPr/>
        </p:nvGrpSpPr>
        <p:grpSpPr>
          <a:xfrm>
            <a:off x="2225324" y="1275075"/>
            <a:ext cx="4828826" cy="3463375"/>
            <a:chOff x="2301524" y="817875"/>
            <a:chExt cx="4828826" cy="3463375"/>
          </a:xfrm>
        </p:grpSpPr>
        <p:pic>
          <p:nvPicPr>
            <p:cNvPr id="410" name="Google Shape;410;p27"/>
            <p:cNvPicPr preferRelativeResize="0"/>
            <p:nvPr/>
          </p:nvPicPr>
          <p:blipFill>
            <a:blip r:embed="rId3">
              <a:alphaModFix/>
            </a:blip>
            <a:stretch>
              <a:fillRect/>
            </a:stretch>
          </p:blipFill>
          <p:spPr>
            <a:xfrm>
              <a:off x="2301525" y="817875"/>
              <a:ext cx="4828825" cy="3463375"/>
            </a:xfrm>
            <a:prstGeom prst="rect">
              <a:avLst/>
            </a:prstGeom>
            <a:noFill/>
            <a:ln>
              <a:noFill/>
            </a:ln>
          </p:spPr>
        </p:pic>
        <p:sp>
          <p:nvSpPr>
            <p:cNvPr id="411" name="Google Shape;411;p27"/>
            <p:cNvSpPr/>
            <p:nvPr/>
          </p:nvSpPr>
          <p:spPr>
            <a:xfrm>
              <a:off x="2301524" y="1201796"/>
              <a:ext cx="1491481" cy="1453406"/>
            </a:xfrm>
            <a:prstGeom prst="rect">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7"/>
            <p:cNvSpPr/>
            <p:nvPr/>
          </p:nvSpPr>
          <p:spPr>
            <a:xfrm>
              <a:off x="3793005" y="2200480"/>
              <a:ext cx="987720" cy="454721"/>
            </a:xfrm>
            <a:prstGeom prst="rect">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7"/>
            <p:cNvSpPr/>
            <p:nvPr/>
          </p:nvSpPr>
          <p:spPr>
            <a:xfrm>
              <a:off x="4115858" y="1180181"/>
              <a:ext cx="664200" cy="507000"/>
            </a:xfrm>
            <a:prstGeom prst="rect">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2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A classifier for pathogen type</a:t>
            </a:r>
            <a:endParaRPr/>
          </a:p>
        </p:txBody>
      </p:sp>
      <p:sp>
        <p:nvSpPr>
          <p:cNvPr id="419" name="Google Shape;419;p28"/>
          <p:cNvSpPr txBox="1">
            <a:spLocks noGrp="1"/>
          </p:cNvSpPr>
          <p:nvPr>
            <p:ph type="body" idx="1"/>
          </p:nvPr>
        </p:nvSpPr>
        <p:spPr>
          <a:xfrm>
            <a:off x="5513600" y="1805700"/>
            <a:ext cx="2688900" cy="328200"/>
          </a:xfrm>
          <a:prstGeom prst="rect">
            <a:avLst/>
          </a:prstGeom>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1600"/>
              </a:spcAft>
              <a:buNone/>
            </a:pPr>
            <a:r>
              <a:rPr lang="en" sz="1800" b="1"/>
              <a:t>Multinomial Regression</a:t>
            </a:r>
            <a:endParaRPr sz="1800" b="1"/>
          </a:p>
        </p:txBody>
      </p:sp>
      <p:pic>
        <p:nvPicPr>
          <p:cNvPr id="420" name="Google Shape;420;p28" descr="Pr(y=i|x)=\frac{e^{X^T\beta_i}}{\Sigma_{k=1}^Ke^{X^T\beta_k}}, i = 1,2...K-1" title="MathEquation,#000000"/>
          <p:cNvPicPr preferRelativeResize="0"/>
          <p:nvPr/>
        </p:nvPicPr>
        <p:blipFill>
          <a:blip r:embed="rId3">
            <a:alphaModFix/>
          </a:blip>
          <a:stretch>
            <a:fillRect/>
          </a:stretch>
        </p:blipFill>
        <p:spPr>
          <a:xfrm>
            <a:off x="4966288" y="1284700"/>
            <a:ext cx="3895324" cy="521000"/>
          </a:xfrm>
          <a:prstGeom prst="rect">
            <a:avLst/>
          </a:prstGeom>
          <a:noFill/>
          <a:ln>
            <a:noFill/>
          </a:ln>
        </p:spPr>
      </p:pic>
      <p:pic>
        <p:nvPicPr>
          <p:cNvPr id="421" name="Google Shape;421;p28" descr="Pr(y=1|x)=\frac{1}{1+e^{^{x^T\beta}}}, i = 1,2" title="MathEquation,#000000"/>
          <p:cNvPicPr preferRelativeResize="0"/>
          <p:nvPr/>
        </p:nvPicPr>
        <p:blipFill>
          <a:blip r:embed="rId4">
            <a:alphaModFix/>
          </a:blip>
          <a:stretch>
            <a:fillRect/>
          </a:stretch>
        </p:blipFill>
        <p:spPr>
          <a:xfrm>
            <a:off x="1017763" y="1361200"/>
            <a:ext cx="3039316" cy="444500"/>
          </a:xfrm>
          <a:prstGeom prst="rect">
            <a:avLst/>
          </a:prstGeom>
          <a:noFill/>
          <a:ln>
            <a:noFill/>
          </a:ln>
        </p:spPr>
      </p:pic>
      <p:sp>
        <p:nvSpPr>
          <p:cNvPr id="422" name="Google Shape;422;p28"/>
          <p:cNvSpPr txBox="1">
            <a:spLocks noGrp="1"/>
          </p:cNvSpPr>
          <p:nvPr>
            <p:ph type="body" idx="1"/>
          </p:nvPr>
        </p:nvSpPr>
        <p:spPr>
          <a:xfrm>
            <a:off x="1468078" y="1805700"/>
            <a:ext cx="2637900" cy="328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800" b="1"/>
              <a:t>Logistic Regression</a:t>
            </a:r>
            <a:endParaRPr sz="1800" b="1"/>
          </a:p>
        </p:txBody>
      </p:sp>
      <p:graphicFrame>
        <p:nvGraphicFramePr>
          <p:cNvPr id="423" name="Google Shape;423;p28"/>
          <p:cNvGraphicFramePr/>
          <p:nvPr/>
        </p:nvGraphicFramePr>
        <p:xfrm>
          <a:off x="916363" y="2622550"/>
          <a:ext cx="3242125" cy="1624500"/>
        </p:xfrm>
        <a:graphic>
          <a:graphicData uri="http://schemas.openxmlformats.org/drawingml/2006/table">
            <a:tbl>
              <a:tblPr>
                <a:noFill/>
                <a:tableStyleId>{75127A46-4F83-4A4A-82A4-0C5771278747}</a:tableStyleId>
              </a:tblPr>
              <a:tblGrid>
                <a:gridCol w="648425"/>
                <a:gridCol w="648425"/>
                <a:gridCol w="648425"/>
                <a:gridCol w="648425"/>
                <a:gridCol w="648425"/>
              </a:tblGrid>
              <a:tr h="541500">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HC</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Bac</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Viral</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Total</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41500">
                <a:tc>
                  <a:txBody>
                    <a:bodyPr/>
                    <a:lstStyle/>
                    <a:p>
                      <a:pPr marL="0" lvl="0" indent="0" algn="ctr" rtl="0">
                        <a:spcBef>
                          <a:spcPts val="0"/>
                        </a:spcBef>
                        <a:spcAft>
                          <a:spcPts val="0"/>
                        </a:spcAft>
                        <a:buNone/>
                      </a:pPr>
                      <a:r>
                        <a:rPr lang="en"/>
                        <a:t>Fold1</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t>14</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t>54</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t>26</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t>94</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41500">
                <a:tc>
                  <a:txBody>
                    <a:bodyPr/>
                    <a:lstStyle/>
                    <a:p>
                      <a:pPr marL="0" lvl="0" indent="0" algn="ctr" rtl="0">
                        <a:spcBef>
                          <a:spcPts val="0"/>
                        </a:spcBef>
                        <a:spcAft>
                          <a:spcPts val="0"/>
                        </a:spcAft>
                        <a:buNone/>
                      </a:pPr>
                      <a:r>
                        <a:rPr lang="en"/>
                        <a:t>Fold2</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15</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58</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25</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98</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graphicFrame>
        <p:nvGraphicFramePr>
          <p:cNvPr id="424" name="Google Shape;424;p28"/>
          <p:cNvGraphicFramePr/>
          <p:nvPr/>
        </p:nvGraphicFramePr>
        <p:xfrm>
          <a:off x="5338400" y="2622550"/>
          <a:ext cx="2995875" cy="1642270"/>
        </p:xfrm>
        <a:graphic>
          <a:graphicData uri="http://schemas.openxmlformats.org/drawingml/2006/table">
            <a:tbl>
              <a:tblPr>
                <a:noFill/>
                <a:tableStyleId>{75127A46-4F83-4A4A-82A4-0C5771278747}</a:tableStyleId>
              </a:tblPr>
              <a:tblGrid>
                <a:gridCol w="998625"/>
                <a:gridCol w="998625"/>
                <a:gridCol w="998625"/>
              </a:tblGrid>
              <a:tr h="591775">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Training Accuracy</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Validation Accuracy</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16350">
                <a:tc>
                  <a:txBody>
                    <a:bodyPr/>
                    <a:lstStyle/>
                    <a:p>
                      <a:pPr marL="0" lvl="0" indent="0" algn="ctr" rtl="0">
                        <a:spcBef>
                          <a:spcPts val="0"/>
                        </a:spcBef>
                        <a:spcAft>
                          <a:spcPts val="0"/>
                        </a:spcAft>
                        <a:buNone/>
                      </a:pPr>
                      <a:r>
                        <a:rPr lang="en"/>
                        <a:t>Fold1</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t>75%</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u="sng"/>
                        <a:t>76%</a:t>
                      </a:r>
                      <a:endParaRPr u="sng"/>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16350">
                <a:tc>
                  <a:txBody>
                    <a:bodyPr/>
                    <a:lstStyle/>
                    <a:p>
                      <a:pPr marL="0" lvl="0" indent="0" algn="ctr" rtl="0">
                        <a:spcBef>
                          <a:spcPts val="0"/>
                        </a:spcBef>
                        <a:spcAft>
                          <a:spcPts val="0"/>
                        </a:spcAft>
                        <a:buNone/>
                      </a:pPr>
                      <a:r>
                        <a:rPr lang="en"/>
                        <a:t>Fold2</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81%</a:t>
                      </a: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u="sng"/>
                        <a:t>71%</a:t>
                      </a:r>
                      <a:endParaRPr u="sng"/>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2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Conclusions</a:t>
            </a:r>
            <a:endParaRPr/>
          </a:p>
        </p:txBody>
      </p:sp>
      <p:sp>
        <p:nvSpPr>
          <p:cNvPr id="430" name="Google Shape;430;p29"/>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Relative numbers of differentially expressed genes similar to DeBerg et al. 2019 </a:t>
            </a:r>
            <a:endParaRPr dirty="0"/>
          </a:p>
          <a:p>
            <a:pPr marL="914400" lvl="1" indent="-298450" algn="l" rtl="0">
              <a:spcBef>
                <a:spcPts val="0"/>
              </a:spcBef>
              <a:spcAft>
                <a:spcPts val="0"/>
              </a:spcAft>
              <a:buSzPts val="1100"/>
              <a:buChar char="-"/>
            </a:pPr>
            <a:r>
              <a:rPr lang="en" dirty="0"/>
              <a:t>many but not all of significant genes discussed in paper appear in our top genes</a:t>
            </a:r>
            <a:endParaRPr dirty="0"/>
          </a:p>
          <a:p>
            <a:pPr marL="457200" lvl="0" indent="-311150" algn="l" rtl="0">
              <a:spcBef>
                <a:spcPts val="0"/>
              </a:spcBef>
              <a:spcAft>
                <a:spcPts val="0"/>
              </a:spcAft>
              <a:buSzPts val="1300"/>
              <a:buChar char="-"/>
            </a:pPr>
            <a:r>
              <a:rPr lang="en" dirty="0"/>
              <a:t>Sex of patient does not influence response to any of the pathogens</a:t>
            </a:r>
            <a:endParaRPr dirty="0"/>
          </a:p>
          <a:p>
            <a:pPr marL="457200" lvl="0" indent="-311150" algn="l" rtl="0">
              <a:spcBef>
                <a:spcPts val="0"/>
              </a:spcBef>
              <a:spcAft>
                <a:spcPts val="0"/>
              </a:spcAft>
              <a:buSzPts val="1300"/>
              <a:buChar char="-"/>
            </a:pPr>
            <a:r>
              <a:rPr lang="en" dirty="0"/>
              <a:t>Significance of three GO categories adjusted downward due to multifunctionality</a:t>
            </a:r>
            <a:endParaRPr dirty="0"/>
          </a:p>
          <a:p>
            <a:pPr marL="457200" lvl="0" indent="-311150" algn="l" rtl="0">
              <a:spcBef>
                <a:spcPts val="0"/>
              </a:spcBef>
              <a:spcAft>
                <a:spcPts val="0"/>
              </a:spcAft>
              <a:buSzPts val="1300"/>
              <a:buChar char="-"/>
            </a:pPr>
            <a:r>
              <a:rPr lang="en" dirty="0"/>
              <a:t>Our classifier uses 8 genes to predict pathogen type with </a:t>
            </a:r>
            <a:r>
              <a:rPr lang="en" dirty="0" smtClean="0"/>
              <a:t>70% </a:t>
            </a:r>
            <a:r>
              <a:rPr lang="en" dirty="0"/>
              <a:t>accuracy</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30"/>
          <p:cNvSpPr txBox="1">
            <a:spLocks noGrp="1"/>
          </p:cNvSpPr>
          <p:nvPr>
            <p:ph type="title"/>
          </p:nvPr>
        </p:nvSpPr>
        <p:spPr>
          <a:xfrm>
            <a:off x="836950" y="970875"/>
            <a:ext cx="5857800" cy="3573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THANK YOU!</a:t>
            </a:r>
            <a:endParaRPr/>
          </a:p>
          <a:p>
            <a:pPr marL="0" lvl="0" indent="0" algn="l" rtl="0">
              <a:spcBef>
                <a:spcPts val="0"/>
              </a:spcBef>
              <a:spcAft>
                <a:spcPts val="0"/>
              </a:spcAft>
              <a:buNone/>
            </a:pPr>
            <a:endParaRPr/>
          </a:p>
          <a:p>
            <a:pPr marL="0" lvl="0" indent="0" algn="l" rtl="0">
              <a:spcBef>
                <a:spcPts val="0"/>
              </a:spcBef>
              <a:spcAft>
                <a:spcPts val="0"/>
              </a:spcAft>
              <a:buNone/>
            </a:pPr>
            <a:r>
              <a:rPr lang="en" sz="2400"/>
              <a:t>Questions?</a:t>
            </a:r>
            <a:endParaRPr sz="2400"/>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1065</Words>
  <Application>Microsoft Office PowerPoint</Application>
  <PresentationFormat>全屏显示(16:9)</PresentationFormat>
  <Paragraphs>163</Paragraphs>
  <Slides>18</Slides>
  <Notes>18</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18</vt:i4>
      </vt:variant>
    </vt:vector>
  </HeadingPairs>
  <TitlesOfParts>
    <vt:vector size="22" baseType="lpstr">
      <vt:lpstr>Maven Pro</vt:lpstr>
      <vt:lpstr>Nunito</vt:lpstr>
      <vt:lpstr>Arial</vt:lpstr>
      <vt:lpstr>Momentum</vt:lpstr>
      <vt:lpstr>Role of Sex in Childhood Diarrheal Disease </vt:lpstr>
      <vt:lpstr>Purpose of study </vt:lpstr>
      <vt:lpstr>Study Design </vt:lpstr>
      <vt:lpstr>Key Findings </vt:lpstr>
      <vt:lpstr>Data Processing </vt:lpstr>
      <vt:lpstr>PCA </vt:lpstr>
      <vt:lpstr>PCA Analysis</vt:lpstr>
      <vt:lpstr>DEG</vt:lpstr>
      <vt:lpstr>Replication of Findings</vt:lpstr>
      <vt:lpstr>Effect of patient sex on response to pathogen </vt:lpstr>
      <vt:lpstr>Low bias due to multifunctionality</vt:lpstr>
      <vt:lpstr>Multifunctionality analysis</vt:lpstr>
      <vt:lpstr> A classifier for pathogen type</vt:lpstr>
      <vt:lpstr>Gene Selection</vt:lpstr>
      <vt:lpstr>Rationale of Classifier</vt:lpstr>
      <vt:lpstr> A classifier for pathogen type</vt:lpstr>
      <vt:lpstr>Conclusions</vt:lpstr>
      <vt:lpstr>THANK YOU!  Questions?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Role of Sex in Childhood Diarrheal Disease </dc:title>
  <cp:lastModifiedBy>Chne Yao</cp:lastModifiedBy>
  <cp:revision>3</cp:revision>
  <dcterms:modified xsi:type="dcterms:W3CDTF">2019-04-01T06:38:14Z</dcterms:modified>
</cp:coreProperties>
</file>